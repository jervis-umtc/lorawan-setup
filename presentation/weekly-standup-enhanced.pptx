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cd59a97d9c47b8" /><Relationship Type="http://schemas.openxmlformats.org/officeDocument/2006/relationships/extended-properties" Target="/docProps/app.xml" Id="R60e0016706fb4316" /><Relationship Type="http://schemas.openxmlformats.org/officeDocument/2006/relationships/officeDocument" Target="/ppt/presentation.xml" Id="Rda8682175371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e74bd40bb4dd4"/>
  </p:sldMasterIdLst>
  <p:notesMasterIdLst>
    <p:notesMasterId xmlns:r="http://schemas.openxmlformats.org/officeDocument/2006/relationships" r:id="R1fb6ff0d2beb44ce"/>
  </p:notesMasterIdLst>
  <p:sldIdLst>
    <p:sldId xmlns:r="http://schemas.openxmlformats.org/officeDocument/2006/relationships" id="256" r:id="R5ef3f4c7d26e4868"/>
    <p:sldId xmlns:r="http://schemas.openxmlformats.org/officeDocument/2006/relationships" id="257" r:id="R4be7b2ea278a48f9"/>
    <p:sldId xmlns:r="http://schemas.openxmlformats.org/officeDocument/2006/relationships" id="258" r:id="R3448e410f2e14b9f"/>
    <p:sldId xmlns:r="http://schemas.openxmlformats.org/officeDocument/2006/relationships" id="259" r:id="R35fb3bd5a3c94682"/>
    <p:sldId xmlns:r="http://schemas.openxmlformats.org/officeDocument/2006/relationships" id="260" r:id="Rdd9a634a341c4f5a"/>
    <p:sldId xmlns:r="http://schemas.openxmlformats.org/officeDocument/2006/relationships" id="261" r:id="R0bf253a082f7411a"/>
    <p:sldId xmlns:r="http://schemas.openxmlformats.org/officeDocument/2006/relationships" id="262" r:id="Rbd4338435db947b5"/>
    <p:sldId xmlns:r="http://schemas.openxmlformats.org/officeDocument/2006/relationships" id="263" r:id="R0574fea0f31f456b"/>
    <p:sldId xmlns:r="http://schemas.openxmlformats.org/officeDocument/2006/relationships" id="264" r:id="R52995661ff9444f7"/>
    <p:sldId xmlns:r="http://schemas.openxmlformats.org/officeDocument/2006/relationships" id="265" r:id="R30921a56c2b84d06"/>
    <p:sldId xmlns:r="http://schemas.openxmlformats.org/officeDocument/2006/relationships" id="266" r:id="R3e8ff41314d54d59"/>
    <p:sldId xmlns:r="http://schemas.openxmlformats.org/officeDocument/2006/relationships" id="267" r:id="R45a3fead21b94fd4"/>
    <p:sldId xmlns:r="http://schemas.openxmlformats.org/officeDocument/2006/relationships" id="268" r:id="R695cfe0ffa7c49a7"/>
    <p:sldId xmlns:r="http://schemas.openxmlformats.org/officeDocument/2006/relationships" id="269" r:id="R9125e87aeff64f66"/>
    <p:sldId xmlns:r="http://schemas.openxmlformats.org/officeDocument/2006/relationships" id="270" r:id="Rd03d1af92f454544"/>
    <p:sldId xmlns:r="http://schemas.openxmlformats.org/officeDocument/2006/relationships" id="271" r:id="Rb0ec80b2c11d46ca"/>
    <p:sldId xmlns:r="http://schemas.openxmlformats.org/officeDocument/2006/relationships" id="272" r:id="R8c5c2d8eb99f4dfb"/>
    <p:sldId xmlns:r="http://schemas.openxmlformats.org/officeDocument/2006/relationships" id="273" r:id="R52ed12b9d99043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41d17d3634dbb" /><Relationship Type="http://schemas.openxmlformats.org/officeDocument/2006/relationships/slideMaster" Target="/ppt/slideMasters/slideMaster1.xml" Id="R8f6e74bd40bb4dd4" /><Relationship Type="http://schemas.openxmlformats.org/officeDocument/2006/relationships/notesMaster" Target="/ppt/notesMasters/notesMaster1.xml" Id="R1fb6ff0d2beb44ce" /><Relationship Type="http://schemas.openxmlformats.org/officeDocument/2006/relationships/presProps" Target="/ppt/presProps.xml" Id="R2d0524f162eb4d39" /><Relationship Type="http://schemas.openxmlformats.org/officeDocument/2006/relationships/tableStyles" Target="/ppt/tableStyles.xml" Id="Rf59c7684d2bb4069" /><Relationship Type="http://schemas.openxmlformats.org/officeDocument/2006/relationships/slide" Target="/ppt/slides/slide1.xml" Id="R5ef3f4c7d26e4868" /><Relationship Type="http://schemas.openxmlformats.org/officeDocument/2006/relationships/slide" Target="/ppt/slides/slide2.xml" Id="R4be7b2ea278a48f9" /><Relationship Type="http://schemas.openxmlformats.org/officeDocument/2006/relationships/slide" Target="/ppt/slides/slide3.xml" Id="R3448e410f2e14b9f" /><Relationship Type="http://schemas.openxmlformats.org/officeDocument/2006/relationships/slide" Target="/ppt/slides/slide4.xml" Id="R35fb3bd5a3c94682" /><Relationship Type="http://schemas.openxmlformats.org/officeDocument/2006/relationships/slide" Target="/ppt/slides/slide5.xml" Id="Rdd9a634a341c4f5a" /><Relationship Type="http://schemas.openxmlformats.org/officeDocument/2006/relationships/slide" Target="/ppt/slides/slide6.xml" Id="R0bf253a082f7411a" /><Relationship Type="http://schemas.openxmlformats.org/officeDocument/2006/relationships/slide" Target="/ppt/slides/slide7.xml" Id="Rbd4338435db947b5" /><Relationship Type="http://schemas.openxmlformats.org/officeDocument/2006/relationships/slide" Target="/ppt/slides/slide8.xml" Id="R0574fea0f31f456b" /><Relationship Type="http://schemas.openxmlformats.org/officeDocument/2006/relationships/slide" Target="/ppt/slides/slide9.xml" Id="R52995661ff9444f7" /><Relationship Type="http://schemas.openxmlformats.org/officeDocument/2006/relationships/slide" Target="/ppt/slides/slide10.xml" Id="R30921a56c2b84d06" /><Relationship Type="http://schemas.openxmlformats.org/officeDocument/2006/relationships/slide" Target="/ppt/slides/slide11.xml" Id="R3e8ff41314d54d59" /><Relationship Type="http://schemas.openxmlformats.org/officeDocument/2006/relationships/slide" Target="/ppt/slides/slide12.xml" Id="R45a3fead21b94fd4" /><Relationship Type="http://schemas.openxmlformats.org/officeDocument/2006/relationships/slide" Target="/ppt/slides/slide13.xml" Id="R695cfe0ffa7c49a7" /><Relationship Type="http://schemas.openxmlformats.org/officeDocument/2006/relationships/slide" Target="/ppt/slides/slide14.xml" Id="R9125e87aeff64f66" /><Relationship Type="http://schemas.openxmlformats.org/officeDocument/2006/relationships/slide" Target="/ppt/slides/slide15.xml" Id="Rd03d1af92f454544" /><Relationship Type="http://schemas.openxmlformats.org/officeDocument/2006/relationships/slide" Target="/ppt/slides/slide16.xml" Id="Rb0ec80b2c11d46ca" /><Relationship Type="http://schemas.openxmlformats.org/officeDocument/2006/relationships/slide" Target="/ppt/slides/slide17.xml" Id="R8c5c2d8eb99f4dfb" /><Relationship Type="http://schemas.openxmlformats.org/officeDocument/2006/relationships/slide" Target="/ppt/slides/slide18.xml" Id="R52ed12b9d990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7af2d06cd543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1d512899f4b1c" /><Relationship Type="http://schemas.openxmlformats.org/officeDocument/2006/relationships/notesMaster" Target="/ppt/notesMasters/notesMaster1.xml" Id="Rbe3598d60245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eac0e24a8f4fee" /><Relationship Type="http://schemas.openxmlformats.org/officeDocument/2006/relationships/notesMaster" Target="/ppt/notesMasters/notesMaster1.xml" Id="Ra445b03cc978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f586723f4d45b9" /><Relationship Type="http://schemas.openxmlformats.org/officeDocument/2006/relationships/notesMaster" Target="/ppt/notesMasters/notesMaster1.xml" Id="R4a4f123b447549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5f950cc1f475b" /><Relationship Type="http://schemas.openxmlformats.org/officeDocument/2006/relationships/notesMaster" Target="/ppt/notesMasters/notesMaster1.xml" Id="R687b492a3ee3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9676cef414f96" /><Relationship Type="http://schemas.openxmlformats.org/officeDocument/2006/relationships/notesMaster" Target="/ppt/notesMasters/notesMaster1.xml" Id="R7c8d193b763944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a14a2e04c414c" /><Relationship Type="http://schemas.openxmlformats.org/officeDocument/2006/relationships/notesMaster" Target="/ppt/notesMasters/notesMaster1.xml" Id="R552ffcb619dc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022d4e29ba429f" /><Relationship Type="http://schemas.openxmlformats.org/officeDocument/2006/relationships/notesMaster" Target="/ppt/notesMasters/notesMaster1.xml" Id="R0e8cc6e78a7d4a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fd76bc3f74ce7" /><Relationship Type="http://schemas.openxmlformats.org/officeDocument/2006/relationships/notesMaster" Target="/ppt/notesMasters/notesMaster1.xml" Id="R4dd90dda960147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0539b3b5644c7f" /><Relationship Type="http://schemas.openxmlformats.org/officeDocument/2006/relationships/notesMaster" Target="/ppt/notesMasters/notesMaster1.xml" Id="R40df570636e6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09b50723a14cf2" /><Relationship Type="http://schemas.openxmlformats.org/officeDocument/2006/relationships/notesMaster" Target="/ppt/notesMasters/notesMaster1.xml" Id="Rfa1a3cb5488241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8ac6c63a54057" /><Relationship Type="http://schemas.openxmlformats.org/officeDocument/2006/relationships/notesMaster" Target="/ppt/notesMasters/notesMaster1.xml" Id="R983fdbfd82814a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22281fb4fb44e3" /><Relationship Type="http://schemas.openxmlformats.org/officeDocument/2006/relationships/notesMaster" Target="/ppt/notesMasters/notesMaster1.xml" Id="R5260a0291ccb42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97034e42ad46d2" /><Relationship Type="http://schemas.openxmlformats.org/officeDocument/2006/relationships/notesMaster" Target="/ppt/notesMasters/notesMaster1.xml" Id="Rbb44f8c5b5ba43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ddf0abee614c5d" /><Relationship Type="http://schemas.openxmlformats.org/officeDocument/2006/relationships/notesMaster" Target="/ppt/notesMasters/notesMaster1.xml" Id="Rc1c14d0254564e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fa7c0a901f44b9" /><Relationship Type="http://schemas.openxmlformats.org/officeDocument/2006/relationships/notesMaster" Target="/ppt/notesMasters/notesMaster1.xml" Id="R67453bee29254e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f3e87848ca4a25" /><Relationship Type="http://schemas.openxmlformats.org/officeDocument/2006/relationships/notesMaster" Target="/ppt/notesMasters/notesMaster1.xml" Id="Raf7cb461c38549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d80fed60fa4e7c" /><Relationship Type="http://schemas.openxmlformats.org/officeDocument/2006/relationships/notesMaster" Target="/ppt/notesMasters/notesMaster1.xml" Id="R67a4c456028f4c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dd4de561124906" /><Relationship Type="http://schemas.openxmlformats.org/officeDocument/2006/relationships/notesMaster" Target="/ppt/notesMasters/notesMaster1.xml" Id="R78b1433f488a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- Presentation logo assets under presentation/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- docs/08-lorawan-security-testing-runbook.md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docs/configs/chirpstack.toml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- docs/codecs/dragino-lsn50v2-s31-decoder.js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docs/codecs/dragino-lsn50v2-s31-decoder.js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docs/configs/docker-compose.yml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docs/configs/chirpstack.toml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presentation/grafana.webp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docs/configs/docker-compose.yml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- docs/08-lorawan-security-testing-runbook.md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presentation/Raspberry-Pi-Logo-2012.png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- presentation/hyperledgerfabric.png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docs/01-master-deployment-guide.md through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cb72aaae441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65dcca2e1348ed" /><Relationship Type="http://schemas.openxmlformats.org/officeDocument/2006/relationships/slideLayout" Target="/ppt/slideLayouts/slideLayout1.xml" Id="R95dc981ff21947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c981ff21947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8a25d1de43ab" /><Relationship Type="http://schemas.openxmlformats.org/officeDocument/2006/relationships/image" Target="/ppt/media/image.bin" Id="R2ca59c17b3b74106" /><Relationship Type="http://schemas.openxmlformats.org/officeDocument/2006/relationships/image" Target="/ppt/media/image.png" Id="R7debd79e36894843" /><Relationship Type="http://schemas.openxmlformats.org/officeDocument/2006/relationships/image" Target="/ppt/media/image2.png" Id="Rd7dfbbc54f4d4d99" /><Relationship Type="http://schemas.openxmlformats.org/officeDocument/2006/relationships/image" Target="/ppt/media/image2.bin" Id="Rb7554ffaa1094d37" /><Relationship Type="http://schemas.openxmlformats.org/officeDocument/2006/relationships/image" Target="/ppt/media/image3.png" Id="R99299eda605147c2" /><Relationship Type="http://schemas.openxmlformats.org/officeDocument/2006/relationships/image" Target="/ppt/media/image4.png" Id="R7db3078864dc4e49" /><Relationship Type="http://schemas.openxmlformats.org/officeDocument/2006/relationships/image" Target="/ppt/media/image5.png" Id="Rb298c1a532524d45" /><Relationship Type="http://schemas.openxmlformats.org/officeDocument/2006/relationships/notesSlide" Target="/ppt/notesSlides/notesSlide1.xml" Id="R9f3141da629a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d7c8477ab4fcb" /><Relationship Type="http://schemas.openxmlformats.org/officeDocument/2006/relationships/notesSlide" Target="/ppt/notesSlides/notesSlide2.xml" Id="Rdaea96a85c6b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e8b3ece924518" /><Relationship Type="http://schemas.openxmlformats.org/officeDocument/2006/relationships/notesSlide" Target="/ppt/notesSlides/notesSlide3.xml" Id="R6dcd1575b102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4c1f751984f30" /><Relationship Type="http://schemas.openxmlformats.org/officeDocument/2006/relationships/notesSlide" Target="/ppt/notesSlides/notesSlide4.xml" Id="Rade6752cff2d46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fefaa57794319" /><Relationship Type="http://schemas.openxmlformats.org/officeDocument/2006/relationships/notesSlide" Target="/ppt/notesSlides/notesSlide5.xml" Id="Rb67fd2391043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7b9e04767474c" /><Relationship Type="http://schemas.openxmlformats.org/officeDocument/2006/relationships/notesSlide" Target="/ppt/notesSlides/notesSlide6.xml" Id="R829c96d85e4b47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90ee5843c4c16" /><Relationship Type="http://schemas.openxmlformats.org/officeDocument/2006/relationships/image" Target="/ppt/media/image6.png" Id="Rffa30a1314694ce2" /><Relationship Type="http://schemas.openxmlformats.org/officeDocument/2006/relationships/notesSlide" Target="/ppt/notesSlides/notesSlide7.xml" Id="R0db0389dfdee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fe028f3446a4" /><Relationship Type="http://schemas.openxmlformats.org/officeDocument/2006/relationships/image" Target="/ppt/media/image7.png" Id="R6636e0b227ac47db" /><Relationship Type="http://schemas.openxmlformats.org/officeDocument/2006/relationships/notesSlide" Target="/ppt/notesSlides/notesSlide8.xml" Id="Rb36725ac3fd246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b25bb60945cf" /><Relationship Type="http://schemas.openxmlformats.org/officeDocument/2006/relationships/notesSlide" Target="/ppt/notesSlides/notesSlide9.xml" Id="R6a590446f3eb4d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8efd3b4774c28" /><Relationship Type="http://schemas.openxmlformats.org/officeDocument/2006/relationships/image" Target="/ppt/media/image7.png" Id="R3304653044f94489" /><Relationship Type="http://schemas.openxmlformats.org/officeDocument/2006/relationships/notesSlide" Target="/ppt/notesSlides/notesSlide10.xml" Id="R1a73488e43f84a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30233a4ef40a8" /><Relationship Type="http://schemas.openxmlformats.org/officeDocument/2006/relationships/image" Target="/ppt/media/image3.bin" Id="Ra9e31e1ecf954462" /><Relationship Type="http://schemas.openxmlformats.org/officeDocument/2006/relationships/notesSlide" Target="/ppt/notesSlides/notesSlide11.xml" Id="R322b7646b44d4a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0b06cf7f4bf9" /><Relationship Type="http://schemas.openxmlformats.org/officeDocument/2006/relationships/image" Target="/ppt/media/image8.png" Id="Rad740613e4b0442e" /><Relationship Type="http://schemas.openxmlformats.org/officeDocument/2006/relationships/notesSlide" Target="/ppt/notesSlides/notesSlide12.xml" Id="R4128a43c729945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94a505ff644e9" /><Relationship Type="http://schemas.openxmlformats.org/officeDocument/2006/relationships/notesSlide" Target="/ppt/notesSlides/notesSlide13.xml" Id="R14dade0bac0e46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d09155fe84739" /><Relationship Type="http://schemas.openxmlformats.org/officeDocument/2006/relationships/image" Target="/ppt/media/image9.png" Id="R2cee275336e24880" /><Relationship Type="http://schemas.openxmlformats.org/officeDocument/2006/relationships/notesSlide" Target="/ppt/notesSlides/notesSlide14.xml" Id="R7697320aff134c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fa7766254199" /><Relationship Type="http://schemas.openxmlformats.org/officeDocument/2006/relationships/notesSlide" Target="/ppt/notesSlides/notesSlide15.xml" Id="Rdf950dde868a46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2f646c1444f7f" /><Relationship Type="http://schemas.openxmlformats.org/officeDocument/2006/relationships/image" Target="/ppt/media/image10.png" Id="Rf2b14b1c1e444861" /><Relationship Type="http://schemas.openxmlformats.org/officeDocument/2006/relationships/notesSlide" Target="/ppt/notesSlides/notesSlide16.xml" Id="R9e99e4ccf73545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16b96e7244337" /><Relationship Type="http://schemas.openxmlformats.org/officeDocument/2006/relationships/notesSlide" Target="/ppt/notesSlides/notesSlide17.xml" Id="Re9441c564af745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4f0907f474ac9" /><Relationship Type="http://schemas.openxmlformats.org/officeDocument/2006/relationships/notesSlide" Target="/ppt/notesSlides/notesSlide18.xml" Id="R4a14ed100143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51030-6E14-41A5-9BA8-E9817206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0DA7-E9DB-467E-BF3B-21E4B25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56BDB-EFA7-49EA-9C81-642D7A2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6D66B-6754-4281-94D9-9810C73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WEEKLY STANDUP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65628-9277-4312-AC59-ED1E6F0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LoRaWAN weekly standup,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UG65 + Dragino work,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future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E9114-D13D-4987-8BB2-F5B62CC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This week's Milesight UG65 and Dragino work,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technical detail, and future prototype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3718B-A20A-45AA-B433-64D30E93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Jervis James Pedotim  |  Intern  |  02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83D1-0A2A-4CE5-AC14-15904AE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6E657-951E-4B7B-AA16-89A7DCB2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2E8F0"/>
                </a:solidFill>
              </a:defRPr>
            </a:pPr>
            <a:r>
              <a:rPr sz="1350" b="1">
                <a:solidFill>
                  <a:srgbClr val="E2E8F0"/>
                </a:solidFill>
              </a:rPr>
              <a:t>Technology stack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59c17b3b74106"/>
          <a:stretch xmlns:a="http://schemas.openxmlformats.org/drawingml/2006/main"/>
        </p:blipFill>
        <p:spPr>
          <a:xfrm xmlns:a="http://schemas.openxmlformats.org/drawingml/2006/main">
            <a:off x="8763000" y="1998047"/>
            <a:ext cx="1371600" cy="442555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bd79e36894843"/>
          <a:stretch xmlns:a="http://schemas.openxmlformats.org/drawingml/2006/main"/>
        </p:blipFill>
        <p:spPr>
          <a:xfrm xmlns:a="http://schemas.openxmlformats.org/drawingml/2006/main">
            <a:off x="10620375" y="19621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fbbc54f4d4d99"/>
          <a:stretch xmlns:a="http://schemas.openxmlformats.org/drawingml/2006/main"/>
        </p:blipFill>
        <p:spPr>
          <a:xfrm xmlns:a="http://schemas.openxmlformats.org/drawingml/2006/main">
            <a:off x="9037491" y="2781300"/>
            <a:ext cx="517818" cy="5334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54ffaa1094d37"/>
          <a:stretch xmlns:a="http://schemas.openxmlformats.org/drawingml/2006/main"/>
        </p:blipFill>
        <p:spPr>
          <a:xfrm xmlns:a="http://schemas.openxmlformats.org/drawingml/2006/main">
            <a:off x="10610850" y="278130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99eda605147c2"/>
          <a:stretch xmlns:a="http://schemas.openxmlformats.org/drawingml/2006/main"/>
        </p:blipFill>
        <p:spPr>
          <a:xfrm xmlns:a="http://schemas.openxmlformats.org/drawingml/2006/main">
            <a:off x="9029700" y="360045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3078864dc4e49"/>
          <a:stretch xmlns:a="http://schemas.openxmlformats.org/drawingml/2006/main"/>
        </p:blipFill>
        <p:spPr>
          <a:xfrm xmlns:a="http://schemas.openxmlformats.org/drawingml/2006/main">
            <a:off x="10403417" y="3600450"/>
            <a:ext cx="948267" cy="5334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8c1a532524d45"/>
          <a:stretch xmlns:a="http://schemas.openxmlformats.org/drawingml/2006/main"/>
        </p:blipFill>
        <p:spPr>
          <a:xfrm xmlns:a="http://schemas.openxmlformats.org/drawingml/2006/main">
            <a:off x="9744075" y="4591050"/>
            <a:ext cx="685800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12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C5D05D-3EAA-499F-9FE5-D17AD7B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90764F-93CC-4F12-9700-28065F0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219FA-7CFC-428A-91D5-66DDA89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This week I worked with a Milesight UG65 and Dragino sensor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CB082F-9BAC-4B36-9D8E-1AFBA99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02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FACC4EA-AACC-4962-8CB1-079C1E5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6DD11-B4FA-44A8-A4B4-D953DEE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5C26-9A6B-445A-8388-6C99E79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712B9-307C-4DB8-A1BB-003BE9B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This week's work followed one real sensor uplink through the local stack, from gateway radio reception to application integrations.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6A7AF-FBBA-4211-BCA5-80C25E2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3DD10-C86A-4151-9903-10EBE2F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WORK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C2896-22FF-4C1A-B7C4-A1FB787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E1C6-7ED6-42F5-9379-720B2B2C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Connected the UG65 to Gateway_F94C0B and used 192.168.23.150 as the gateway endpoint.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34EB8-29DD-49B1-B4C0-1229DC2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2388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D4C53-6F97-4BC9-A1A1-75ECCD2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2388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Ran the Ubuntu VM at 192.168.23.137 and forwarded Semtech UDP traffic on port 1700.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01734-620D-4E05-8FD2-BCD7991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D9FEF-3E5A-45D8-9BF0-E6996F9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Registered the Dragino LSN50v2-S31 with OTAA and verified Class A uplink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CDAA4-7B8C-4C35-B6FE-79F1B3DD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5863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91CA1-33E6-483C-872D-7DDC3766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5863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Matched the JavaScript decoder to TempC_SHT31, Hum_SHT31, and BatV fields.</a:t>
            </a:r>
          </a:p>
        </p:txBody>
      </p:sp>
      <p:sp>
        <p:nvSpPr>
          <p:cNvPr id="1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59590AC0-11DB-4D95-B89D-D3A7E44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533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B69B5-9F04-46E4-8043-CCB45CB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487A7-A108-4B2A-A382-5A6C445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 complete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uplink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F785C-A4A3-40B0-8E89-2585E79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2081B-146F-4238-81D3-4422489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358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same event can be traced through RF, UDP, MQTT,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ChirpStack, PostgreSQL, Grafana, and Node-RED.</a:t>
            </a:r>
          </a:p>
        </p:txBody>
      </p:sp>
    </p:spTree>
    <p:extLst>
      <p:ext uri="{BB962C8B-B14F-4D97-AF65-F5344CB8AC3E}">
        <p14:creationId xmlns:p14="http://schemas.microsoft.com/office/powerpoint/2010/main" val="18575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C5D05D-3EAA-499F-9FE5-D17AD7B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90764F-93CC-4F12-9700-28065F0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219FA-7CFC-428A-91D5-66DDA89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test was checked at each handoff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CB082F-9BAC-4B36-9D8E-1AFBA99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03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FACC4EA-AACC-4962-8CB1-079C1E5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6DD11-B4FA-44A8-A4B4-D953DEE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5C26-9A6B-445A-8388-6C99E79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712B9-307C-4DB8-A1BB-003BE9B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 dashboard value is only useful when the packet, device state, decoder, and downstream records agree.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6A7AF-FBBA-4211-BCA5-80C25E2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3DD10-C86A-4151-9903-10EBE2F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VERIFICATION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C2896-22FF-4C1A-B7C4-A1FB787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E1C6-7ED6-42F5-9379-720B2B2C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Gateway RF — the UG65 receives the Dragino uplink.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34EB8-29DD-49B1-B4C0-1229DC2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2388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D4C53-6F97-4BC9-A1A1-75ECCD2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2388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UDP transport — the packet reaches the server on port 1700.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01734-620D-4E05-8FD2-BCD7991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D9FEF-3E5A-45D8-9BF0-E6996F9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MQTT event — Gateway Bridge publishes the gateway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CDAA4-7B8C-4C35-B6FE-79F1B3DD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5863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91CA1-33E6-483C-872D-7DDC3766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5863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Application data — decoded values appear in SQL, Grafana, and Node-RED.</a:t>
            </a:r>
          </a:p>
        </p:txBody>
      </p:sp>
      <p:sp>
        <p:nvSpPr>
          <p:cNvPr id="1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59590AC0-11DB-4D95-B89D-D3A7E44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533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B69B5-9F04-46E4-8043-CCB45CB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487A7-A108-4B2A-A382-5A6C445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Uplink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F785C-A4A3-40B0-8E89-2585E79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2081B-146F-4238-81D3-4422489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358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Compare RF metadata, decoded fields, database rows, dashboard values, and flow messages.</a:t>
            </a:r>
          </a:p>
        </p:txBody>
      </p:sp>
    </p:spTree>
    <p:extLst>
      <p:ext uri="{BB962C8B-B14F-4D97-AF65-F5344CB8AC3E}">
        <p14:creationId xmlns:p14="http://schemas.microsoft.com/office/powerpoint/2010/main" val="185753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939CCBF-BAE7-44E5-8165-D41A5CC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8E865A6-F15B-40A3-93A4-364EDF6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C57A62-4AA6-4FA8-9D97-7BC9A3A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This week's test traced one Dragino uplink end to end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B58C73-BCBA-4778-8D5B-F057502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04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64DAFB1-4435-4B28-A0AE-20DAE9B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11C0F-2242-4D8D-93FD-11A85F4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3C0A-DE07-4CFF-9918-34B193B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87F3B-C6F3-4419-A021-E7B7F02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path was Dragino sensor -&gt; Milesight UG65 -&gt; Gateway Bridge -&gt; MQTT -&gt; ChirpStack -&gt; PostgreSQL, Grafana, and Node-RED.</a:t>
            </a:r>
          </a:p>
        </p:txBody>
      </p:sp>
      <p:sp>
        <p:nvSpPr>
          <p:cNvPr id="9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BCE875D8-C2A7-4286-9B21-422DB920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96ED4-2610-4F0D-8AC8-EB70475E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Dragino LSN50v2-S31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FDA97-260F-4501-BEE0-5A999F4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uplink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DEC7B-7CB5-4C10-804B-8A01C74B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3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2D98B57D-870F-453F-A295-51419CA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19C0-2C16-4429-BA82-CD1941B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Milesight UG65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C1108-3200-4532-8433-6D6D357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RF to 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A5B54-83AC-4AE5-B2D9-59FBDC9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7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46121459-F581-4F79-841A-FF5D1F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69BC9-E0AE-46B4-9303-1B6F97A6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Gateway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2630E-3B28-4AF2-8DD1-C7BC3A20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UDP 1700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8F458-6ACC-415E-91FA-EFB33FA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1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6D6FCA46-8554-4C80-B92C-71EB34C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B37D3-4BAF-4523-9B49-F9644EC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MQTT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215D8-F330-4889-8ABE-CBFB39C9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event bus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673AE-C899-42FB-99CD-72FC7DD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5" name="architecture-5">
            <a:extLst xmlns:a="http://schemas.openxmlformats.org/drawingml/2006/main">
              <a:ext uri="{FF2B5EF4-FFF2-40B4-BE49-F238E27FC236}">
                <a16:creationId xmlns:a16="http://schemas.microsoft.com/office/drawing/2014/main" id="{8F93932D-7AE6-4B56-9679-7FD6C9E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25026-B49A-4353-846E-02C7009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ChirpStack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EC04F-D233-40A2-B3DE-3CE4F00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OTAA + decode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5F18C-6C0C-4BC7-A22A-F0F3922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9" name="architecture-6">
            <a:extLst xmlns:a="http://schemas.openxmlformats.org/drawingml/2006/main">
              <a:ext uri="{FF2B5EF4-FFF2-40B4-BE49-F238E27FC236}">
                <a16:creationId xmlns:a16="http://schemas.microsoft.com/office/drawing/2014/main" id="{9C3CAABA-2693-4306-B6C2-09404C5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028C4-BB2E-47BC-B4A2-BE0F1A8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Apps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8FAB3-4E1B-4314-A424-092215C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SQL + dashboards + flows</a:t>
            </a:r>
          </a:p>
        </p:txBody>
      </p:sp>
      <p:sp>
        <p:nvSpPr>
          <p:cNvPr id="32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6BC8506D-A1B5-445A-B6DD-127681CC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30E22-44F6-4295-B4A5-7E0B4846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3C5FD"/>
                </a:solidFill>
              </a:defRPr>
            </a:pPr>
            <a:r>
              <a:rPr sz="1050" b="1">
                <a:solidFill>
                  <a:srgbClr val="93C5FD"/>
                </a:solidFill>
              </a:rPr>
              <a:t>TRACEABILITY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A97F3-3802-48BC-BD65-E043D2CE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Check RF, UDP, MQTT, server state, decoded fields, and application output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224310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5A0A9C2-42DD-44A4-8F81-D9D7BDFD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D64D91F-FCD5-47F4-AD3F-4DB0A6B0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A142F2-D788-44D3-BA8B-9210957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LoRa radio and LoRaWAN have different responsibilities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349F05-78DF-4931-AD86-6CA33C0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05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0CEC8B-9565-4BE8-A93F-883B6E6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AFE9-E3B7-43CC-808C-E748A06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B47F-5281-4FAA-A0A1-9DE70A2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33278-BA7E-4E9C-A727-BE955F7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UG65 receives LoRa radio traffic. LoRaWAN defines how the Dragino joins, sends uplinks, and receives Class A downlinks.</a:t>
            </a:r>
          </a:p>
        </p:txBody>
      </p:sp>
      <p:sp>
        <p:nvSpPr>
          <p:cNvPr id="9" name="lora-layer">
            <a:extLst xmlns:a="http://schemas.openxmlformats.org/drawingml/2006/main">
              <a:ext uri="{FF2B5EF4-FFF2-40B4-BE49-F238E27FC236}">
                <a16:creationId xmlns:a16="http://schemas.microsoft.com/office/drawing/2014/main" id="{46C440FB-D01A-4C35-92EA-AD1A5FC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4A9F-860B-467B-980E-B2832CA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LoRa = physical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5D53-F7EE-45C2-886C-B196BEC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EA80D-1C9A-497D-AAA6-6E68BF9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Chirp Spread Spectrum radio carries low-power long-range links.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3E9B4-E10C-41E4-A66B-9FA6958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56C6-DFAE-4D58-B727-F3073EE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Spreading factor, bandwidth, coding rate, and frequency affect the link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AA5BE-8689-434D-A04B-6394B73D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D0CB8-B043-4B3D-A9FB-EE3F3FE4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UG65 receives RF and forwards packets; it does not decide application meaning.</a:t>
            </a:r>
          </a:p>
        </p:txBody>
      </p:sp>
      <p:sp>
        <p:nvSpPr>
          <p:cNvPr id="17" name="lorawan-layer">
            <a:extLst xmlns:a="http://schemas.openxmlformats.org/drawingml/2006/main">
              <a:ext uri="{FF2B5EF4-FFF2-40B4-BE49-F238E27FC236}">
                <a16:creationId xmlns:a16="http://schemas.microsoft.com/office/drawing/2014/main" id="{BA843576-19C7-417B-A81C-F02CB83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FD5DA-337B-4445-80AF-C61EB80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LoRaWAN = network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1063D-779A-48DA-889A-C509124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8F10C-2E7C-4A64-9A09-5AA92E1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LoRaWAN defines activation, frame counters, classes, and regional parameters.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3E092-F6DE-433F-A3E2-0481DFC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A7C8C-49AD-42D9-9D3C-D7C66EBF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OTAA establishes session state; keys and identifiers must match the server profile.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93EC6-9243-4AD2-B3DC-66AC924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DEF60-2A78-4F4D-928D-2C343B8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Dragino is Class A; downlinks wait for its receive window after an uplink.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D8B48-B6A8-4AAE-AF60-0EEFD15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LoRa carries the signal; LoRaWAN defines device identity, security, and network behavior.</a:t>
            </a:r>
          </a:p>
        </p:txBody>
      </p:sp>
    </p:spTree>
    <p:extLst>
      <p:ext uri="{BB962C8B-B14F-4D97-AF65-F5344CB8AC3E}">
        <p14:creationId xmlns:p14="http://schemas.microsoft.com/office/powerpoint/2010/main" val="859478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5A0A9C2-42DD-44A4-8F81-D9D7BDFD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D64D91F-FCD5-47F4-AD3F-4DB0A6B0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A142F2-D788-44D3-BA8B-9210957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gateway and server perform different jobs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349F05-78DF-4931-AD86-6CA33C0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06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0CEC8B-9565-4BE8-A93F-883B6E6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AFE9-E3B7-43CC-808C-E748A06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B47F-5281-4FAA-A0A1-9DE70A2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33278-BA7E-4E9C-A727-BE955F7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UG65 does not decode application data, and ChirpStack does not replace the gateway radio. They meet at the packet-forwarder boundary.</a:t>
            </a:r>
          </a:p>
        </p:txBody>
      </p:sp>
      <p:sp>
        <p:nvSpPr>
          <p:cNvPr id="9" name="lora-layer">
            <a:extLst xmlns:a="http://schemas.openxmlformats.org/drawingml/2006/main">
              <a:ext uri="{FF2B5EF4-FFF2-40B4-BE49-F238E27FC236}">
                <a16:creationId xmlns:a16="http://schemas.microsoft.com/office/drawing/2014/main" id="{46C440FB-D01A-4C35-92EA-AD1A5FC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4A9F-860B-467B-980E-B2832CA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Milesight UG65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5D53-F7EE-45C2-886C-B196BEC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EA80D-1C9A-497D-AAA6-6E68BF9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Receives LoRa frames from the Dragino over the configured regional channels.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3E9B4-E10C-41E4-A66B-9FA6958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56C6-DFAE-4D58-B727-F3073EE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Adds gateway metadata and forwards packets over IP.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AA5BE-8689-434D-A04B-6394B73D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D0CB8-B043-4B3D-A9FB-EE3F3FE4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Does not own OTAA application state or payload meaning.</a:t>
            </a:r>
          </a:p>
        </p:txBody>
      </p:sp>
      <p:sp>
        <p:nvSpPr>
          <p:cNvPr id="17" name="lorawan-layer">
            <a:extLst xmlns:a="http://schemas.openxmlformats.org/drawingml/2006/main">
              <a:ext uri="{FF2B5EF4-FFF2-40B4-BE49-F238E27FC236}">
                <a16:creationId xmlns:a16="http://schemas.microsoft.com/office/drawing/2014/main" id="{BA843576-19C7-417B-A81C-F02CB83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FD5DA-337B-4445-80AF-C61EB80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ChirpStack v4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1063D-779A-48DA-889A-C509124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8F10C-2E7C-4A64-9A09-5AA92E1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Receives gateway events through Gateway Bridge.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3E092-F6DE-433F-A3E2-0481DFC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A7C8C-49AD-42D9-9D3C-D7C66EBF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Validates gateway, device profile, OTAA state, and frame counters.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93EC6-9243-4AD2-B3DC-66AC924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DEF60-2A78-4F4D-928D-2C343B8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Decodes payload bytes and publishes normalized events.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D8B48-B6A8-4AAE-AF60-0EEFD15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Troubleshoot RF and UDP separately from device state and payload decoding.</a:t>
            </a:r>
          </a:p>
        </p:txBody>
      </p:sp>
    </p:spTree>
    <p:extLst>
      <p:ext uri="{BB962C8B-B14F-4D97-AF65-F5344CB8AC3E}">
        <p14:creationId xmlns:p14="http://schemas.microsoft.com/office/powerpoint/2010/main" val="859478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4C092C2-2729-4627-B253-58739F68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C0E52DE-0D01-43ED-9247-820D1A8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98E1A6-27EC-453A-95E2-DDFCBA5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ChirpStack validates, decodes, and publishes the uplink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21B82E-4E0A-46CA-9268-9EF571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07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8F0B8D8-7237-4A58-9E9A-E9A6CB1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B46C5-340B-4091-9B73-E33FE86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41A48-B258-4AE9-BDA6-AE03124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0a1314694ce2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95824-9F54-4B79-9441-1F91A44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Gateway Bridge passes the UG65 packet to ChirpStack v4. The server checks state, applies the codec, and publishes the decoded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FA2F-F200-4113-B2A4-ED4C399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6F82B-F4CD-475B-B7F0-CEA195E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1. Ingest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9D5FE-E7DB-489A-9D47-09DEB9D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4DABD-6AB0-48B3-8AF2-103B8EA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Receives packets forwarded by the Milesight UG65.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CAD91-DDF4-4C70-BADC-FAE22E1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50BAF-BD64-4053-9044-D701B09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Associates frames with the gateway and Dragino device.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851A8-A12B-471F-8035-0D25E8E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81F45-5C60-458F-96D1-034EE4C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Tracks radio metadata such as RSSI and SNR.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B04A9-BAF8-4BFA-9C8C-F2BA43B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A24EA-2AC0-4EF4-993C-3BE0076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2.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C1D1A-79FD-47B5-BC7D-B8D1926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E9172-AC9F-4F16-985F-F179083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Checks region, device profile, and OTAA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2AEC6-6E02-45B4-8D58-CE83CF25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97254-46CD-4A31-B785-9B2F9A4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Verifies security state and frame-counter behavior.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5BC3E-BC50-4596-A3A5-7807B10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66286-EAF9-447E-9E4D-84AA5B9E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Applies Class A downlink timing rules.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E2C13-DE4B-44D4-A3B9-E2F342C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94668-8711-4400-94A5-DAEB66E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3. Decode + publish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6C27E-C08C-47EF-93FF-9B69756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A5909-3429-4E72-8F34-EEE7551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Runs the Dragino JavaScript payload codec.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F3E1F-EFA0-482C-BB55-36A9E965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C0B0C-C25D-449A-827B-E681C88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Exposes temperature, humidity, and battery fields.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75166-314B-4B02-BD4A-F0E00B8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B1633-6010-4421-993D-205AA8D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Publishes decoded events for SQL, dashboards, and flows.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A06164-94BB-4B98-86E8-CC68DDE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ChirpStack is the protocol and device-state boundary between the gateway and the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20817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074A7EB-1D06-4543-8687-9CD27ED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6D15F7B-5795-4534-90BE-2BA136A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8A8814-6126-4CA4-9EED-EED4A90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decoder maps payload bytes to named fields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4D318-FB34-49DD-A456-E7E56E00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08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4901E50-B7D7-41B6-ABB6-27F2E305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8458-B83F-4CD3-964C-57344C2D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C061A-BAC6-439B-9B60-DD8E493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6e0b227ac47db"/>
          <a:stretch xmlns:a="http://schemas.openxmlformats.org/drawingml/2006/main"/>
        </p:blipFill>
        <p:spPr>
          <a:xfrm xmlns:a="http://schemas.openxmlformats.org/drawingml/2006/main">
            <a:off x="828054" y="1809750"/>
            <a:ext cx="591791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2F695-881F-456E-BD64-6701729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Dragino payload is binary at the radio layer; the JavaScript codec maps byte positions into application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0907-EECA-4BA7-8FEC-E9772DE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E040B-A369-4B8D-87F1-100E711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Decoder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CCF61-5FF5-49D8-8F05-0142B46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14CE5-4E80-4365-854D-EAD37121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Raw FRMPayload bytes from the uplink.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A081-D25B-41BC-AB17-0F967C0F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2DF6A-87FD-4DC8-9650-2FE92DC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FPort and device profile select the codec.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96E84-0A3E-4D55-AFB4-BA234D5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25BB8-0847-40C1-8B29-50C5E9B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Frame metadata remains beside the payload.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6E47-710F-49EE-9156-BA6D2F4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FC85-5027-42BC-A576-AAF1C2F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Decoded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DD969-8BCA-4EC9-A5DD-E3D463C8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132FD-7F93-41A5-B818-4C06992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TempC_SHT31 — temperature from the SHT31 probe.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21BC-1BA9-4275-81E1-D9158DEB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5C0B0-3730-413F-A5B1-BA140B3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Hum_SHT31 — relative humidity from the SHT31 probe.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F4808-C7C9-47C9-82DC-9BE072C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80F20-2EED-4C78-9378-F442172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BatV — battery voltage for device health.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29739-16FB-4F85-B8C8-B356B87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 wrong decoder or profile can create plausible but incorrect dashboard values.</a:t>
            </a:r>
          </a:p>
        </p:txBody>
      </p:sp>
    </p:spTree>
    <p:extLst>
      <p:ext uri="{BB962C8B-B14F-4D97-AF65-F5344CB8AC3E}">
        <p14:creationId xmlns:p14="http://schemas.microsoft.com/office/powerpoint/2010/main" val="1427560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5A64CC8-74E4-4114-B161-C895543F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A3B7F9-6E3D-400E-8F0C-66C1207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4FFD7-28E7-4C96-A8DB-ADE9020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direct AP setup isolated the local test network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6B76EA-3D03-412D-A3AB-A7D18D6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09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133A64C-DD29-4FA2-A0CB-26C2D48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AF80C-EF51-44A1-8550-81E54D4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A96F7-A8F8-4274-BF6B-0424983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4427-A351-4C97-9BEC-456E9B1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UG65 exposed Gateway_F94C0B. The VM used a static address and the gateway forwarded packets to the server over UDP 1700.</a:t>
            </a:r>
          </a:p>
        </p:txBody>
      </p:sp>
      <p:sp>
        <p:nvSpPr>
          <p:cNvPr id="9" name="infra-1">
            <a:extLst xmlns:a="http://schemas.openxmlformats.org/drawingml/2006/main">
              <a:ext uri="{FF2B5EF4-FFF2-40B4-BE49-F238E27FC236}">
                <a16:creationId xmlns:a16="http://schemas.microsoft.com/office/drawing/2014/main" id="{F4F3D1BC-5492-4BEF-A74F-1C757E1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0FBA6-C230-4740-8A4C-AE45DFA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Ubuntu 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5133B-FFD6-4C58-821D-A096CBF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9D9FC-67DD-47CF-A0F1-876AD71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Bridged Wi-Fi linked the VM to the UG65 access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1E139-0315-47CF-8EF4-58AD40D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8C118-9B9A-479C-B788-EDD62A44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VM address: 192.168.23.137/24.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B275B-AD77-434C-8013-95E3015D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F8847-8B72-4903-8E4A-C3ED22B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Gateway route: 192.168.23.150.</a:t>
            </a:r>
          </a:p>
        </p:txBody>
      </p:sp>
      <p:sp>
        <p:nvSpPr>
          <p:cNvPr id="17" name="infra-2">
            <a:extLst xmlns:a="http://schemas.openxmlformats.org/drawingml/2006/main">
              <a:ext uri="{FF2B5EF4-FFF2-40B4-BE49-F238E27FC236}">
                <a16:creationId xmlns:a16="http://schemas.microsoft.com/office/drawing/2014/main" id="{55D87D16-B3BE-494D-BC50-83921473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85CF7-27D2-43D3-B4AA-038FE07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490F2-C1EE-4CF9-9DD5-FAE7F1E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0C6C9-B554-42CB-B2D2-00F4C7C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Runs ChirpStack, Gateway Bridge, MQTT, PostgreSQL, and Redis.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DF633-477B-440E-8564-3CD2653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85BF6-208F-46F8-80B9-B57CD2A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Volumes retain service state.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E5234-072E-42C4-A327-E2D45D2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FA6C0-6B5E-4E62-A179-71543A9C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Stage images before offline use.</a:t>
            </a:r>
          </a:p>
        </p:txBody>
      </p:sp>
      <p:sp>
        <p:nvSpPr>
          <p:cNvPr id="25" name="infra-3">
            <a:extLst xmlns:a="http://schemas.openxmlformats.org/drawingml/2006/main">
              <a:ext uri="{FF2B5EF4-FFF2-40B4-BE49-F238E27FC236}">
                <a16:creationId xmlns:a16="http://schemas.microsoft.com/office/drawing/2014/main" id="{E1FB1C8E-E7F8-414F-9878-99FC320E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12274-9F89-4C14-B253-C3768D1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Operational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98A7B-5BA5-4025-9E5B-9D9ADB5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472C2-7369-4063-96E7-E532A999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Gateway: 192.168.23.150.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ACC20-6A5C-4057-8AA0-B4EDB71D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4A0B9-F4EC-484D-BE27-3A61EB14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Semtech UDP: 1700.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D3E50-0EF1-401E-AC58-A16CCCD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8E321-9F9F-48C8-831B-E265182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MQTT event transport: TCP 1883.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52466-6799-443C-A086-EC878417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7720C-EFD4-4D8D-AA80-04CD8DE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The Dragino reached the local server without cloud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17847314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074A7EB-1D06-4543-8687-9CD27ED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6D15F7B-5795-4534-90BE-2BA136A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8A8814-6126-4CA4-9EED-EED4A90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PostgreSQL stores decoded telemetry and radio evidence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4D318-FB34-49DD-A456-E7E56E00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10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4901E50-B7D7-41B6-ABB6-27F2E305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8458-B83F-4CD3-964C-57344C2D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C061A-BAC6-439B-9B60-DD8E493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4653044f94489"/>
          <a:stretch xmlns:a="http://schemas.openxmlformats.org/drawingml/2006/main"/>
        </p:blipFill>
        <p:spPr>
          <a:xfrm xmlns:a="http://schemas.openxmlformats.org/drawingml/2006/main">
            <a:off x="828054" y="1809750"/>
            <a:ext cx="591791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2F695-881F-456E-BD64-6701729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integration database keeps decoded fields and packet metadata available for SQL queries, dashboards, and later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0907-EECA-4BA7-8FEC-E9772DE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E040B-A369-4B8D-87F1-100E711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CCF61-5FF5-49D8-8F05-0142B46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14CE5-4E80-4365-854D-EAD37121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Dedicated chirpstack_integration database for event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A081-D25B-41BC-AB17-0F967C0F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2DF6A-87FD-4DC8-9650-2FE92DC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JSONB stores decoded payloads without forcing one rigid sensor schema.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96E84-0A3E-4D55-AFB4-BA234D5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25BB8-0847-40C1-8B29-50C5E9B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SQL views expose stable fields for dashboards and reports.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6E47-710F-49EE-9156-BA6D2F4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FC85-5027-42BC-A576-AAF1C2F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What becomes measurable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DD969-8BCA-4EC9-A5DD-E3D463C8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132FD-7F93-41A5-B818-4C06992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Dragino values: TempC_SHT31, Hum_SHT31, and BatV.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21BC-1BA9-4275-81E1-D9158DEB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5C0B0-3730-413F-A5B1-BA140B3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Radio quality: RSSI, SNR, timing, and gateway metadata.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F4808-C7C9-47C9-82DC-9BE072C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80F20-2EED-4C78-9378-F442172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Operational evidence: joins, acknowledgements, and status events.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29739-16FB-4F85-B8C8-B356B87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 database is the durable record of the uplink.</a:t>
            </a:r>
          </a:p>
        </p:txBody>
      </p:sp>
    </p:spTree>
    <p:extLst>
      <p:ext uri="{BB962C8B-B14F-4D97-AF65-F5344CB8AC3E}">
        <p14:creationId xmlns:p14="http://schemas.microsoft.com/office/powerpoint/2010/main" val="1427560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9D870E3-E3FB-4283-B113-5308F483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9B00FC9-866A-4F02-B4F6-6A0C170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F764E-BD69-490F-8F2F-0D5E1FA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Grafana turns stored telemetry into readable views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D70DC1-BDB5-47CD-B990-A131165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11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8596DAB-23E2-47F0-8CE4-378D9CD2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1EE7-7190-4753-AFAA-8876A09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616DF-8BF5-4858-AEC4-CDC31FC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31e1ecf954462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BC587-829A-421B-954D-9DF75C5D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Grafana reads PostgreSQL data to show current values, time-series changes, thresholds, and comparisons across sensors.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5E554-9DD2-457A-AA70-1CA3E22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D7610-AAB3-4F9C-8B68-4B5174B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Latest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BF7EA-4DEC-4D79-9EEA-7631127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6AD25-3C82-420F-9E5F-F9255FC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Gauges show latest decoded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603D3-030D-402B-BA66-309071F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533E6-8891-44C1-BE3E-579AA3D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Thresholds highlight values that need attention.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B3CA2-CF91-49E6-BC88-67E27A5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AB575-B6D9-4C14-B678-E062D2E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One dashboard can compare sensors later.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0ED40-23D8-4CEA-876B-F45A047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36556-2D74-4F77-8299-62DD3CA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Time series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18E14-3A89-452E-95CD-13FAA2A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E1563-D2BC-4A89-A000-AD484D2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SQL queries reveal trends rather than isolated readings.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A551A-059A-4D78-BC53-F81BF73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B7B91-9AA3-432F-A85D-DDEE9CE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49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$__timeFilter keeps panels on the selected range.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F2B6C-4876-4C1D-AEF2-E27810D9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589CA-04FE-4696-880F-B8D187B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894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Variables reuse one dashboard across sensors.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BE984-5AA4-441B-938A-09BABFC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D948B-1619-4E3A-8486-44315FD0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Operational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E5687-170F-40C0-828A-90681E7B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81BC8-8EE8-4039-BD38-A49FEE6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zones and time windows.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DF64C-7223-46E1-8017-67C2AD80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0C6BC-321A-4DC4-8C32-9B0C7B8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alerts before manual inspection.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5E32F-DF5B-4621-A470-D5472F8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A78B4C-EE12-4BF9-A50C-55E58CF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Export dashboard JSON for reuse.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20E9A7-D86F-4C6C-B3EB-772B86E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Grafana summarizes telemetry; PostgreSQL remains the source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842740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B963BB7-8F47-45BE-8076-C814052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CF85410-0609-47CD-B914-6312B19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D10D46-4FDC-42E9-9D65-4043A94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Node-RED routes decoded events into rules and actions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1C44D5-3963-4821-8DD2-6A845DC8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12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7B31B9-136B-4216-AF56-FDE436A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2A47-BAF6-4C53-9A70-C67E26F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F9D7B-7E3F-4B9F-BABD-0D865A79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40613e4b0442e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430A-C855-45A0-A721-4EDAC578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flow subscribes to MQTT, normalizes fields, checks conditions, and prepares an alert, webhook, or downlink.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290A-AE41-4A25-B88F-CF787EB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33F66-FCD3-4239-A8D4-3C88EDA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Subscribe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04C50-124B-4A20-87DD-0143124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MQTT wildcard topics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receive uplinks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FA4C5-EA47-4840-98BA-70C393E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778CF-51B8-40E3-B2D3-DDA544E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A2BD-04B1-4787-9185-D54E06D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AE2A5-54F5-4370-BC77-B272F5A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Function nodes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normalize payloads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AD436-E94D-4322-8F9C-C841C3DA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D4F51-9C4E-43FB-994A-06AC3E3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2FC11-AF77-416C-AB9E-6E488FA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6B5FC-4985-4ED6-846D-EE184F1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Switch / threshold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53562-E77F-4FC6-9ACF-08A6D0E3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5DE63-C843-4D3C-A0AF-1B3878E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229BB-5034-42A8-B892-18BB29A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5A4EF-B319-45C6-8A4B-E1779AC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Webhook, alert,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or downlink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C80A0-2123-44AE-B565-6FAEB4DF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1125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94E8D-4F88-4FF0-8EDE-14EBDB2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ACTUATION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7603E-289B-4E2E-9C64-37E377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Keep actuation human-reviewed. Class A downlinks wait for the device receive window.</a:t>
            </a:r>
          </a:p>
        </p:txBody>
      </p:sp>
    </p:spTree>
    <p:extLst>
      <p:ext uri="{BB962C8B-B14F-4D97-AF65-F5344CB8AC3E}">
        <p14:creationId xmlns:p14="http://schemas.microsoft.com/office/powerpoint/2010/main" val="71150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301B9AE-E808-4AC7-A1CE-B058F72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50F09B6-A5CC-496F-805E-F186756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A81247-01A6-4D48-940B-1859800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RF and LoRa signal analysis is planned, not implemented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65E791-CDC1-4A48-810C-E4FB305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13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80180F-8DE4-4133-B4A4-296A933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71A08-874C-4429-BB02-58428EF4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9A8A7-36C7-4994-8219-1E6FCD0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5C04C-8217-4C6C-B173-A30E06A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6C5A-16F4-492B-A299-8589407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WORK — RECEIVE-ONLY / AUTHORIZED PRIVATE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25EF7-A1B3-4B55-BC5F-93669328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The RF documents describe an SDR path for capturing IQ data, demodulating LoRa, extracting LoRaWAN fields, and comparing observations with ChirpStack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97504-3F74-41CF-ABBA-BF8C49A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BE286-3EDD-4E4D-89E4-2AC9F98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RF / IQ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7D26E-C0E4-4AD9-B2BD-243CF536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gr-lora_sdr or SDRangel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635E6-774F-4237-93CE-6C4A729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23A97-582B-4C20-85DA-0EDED203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2D5DE-3B04-4EB0-9903-447FAC4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PHY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F7A9B-B448-4433-B3DC-3D1CF2FC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demodulated LoRa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1C9B2-203B-45D4-AC9E-3BB34B4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43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DBD06-4A8C-42E5-AE84-9EB975C1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13688-004F-45DD-AAF0-78BFC1EC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LoRaWAN fields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CAE9A-2DF2-447E-9E2C-55EDE2B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00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LoRa_Craft / Scapy 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015FE-4529-409D-983E-F575776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2B677-2D19-47D8-A609-E080FE2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C8AB4-5E20-460C-8091-8552BBC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53D9C-77B7-4C67-884D-7DB4225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Wireshark + captures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8195B-85A1-4024-883D-6A96B1A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00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46902-4360-4478-971B-9380E64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5A51E-C915-4B1F-B24F-AC9C10E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Server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8A8CC-F02A-4334-9266-B024289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57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ChirpStack + LAF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75B4E-9611-44EC-B0C9-B15DF7C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991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BC010-C3F8-4DA4-9942-EDE9E76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SAFE START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DBBEB-E8A8-4C41-859F-A890E8E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BC669-C048-4444-BA59-DD81723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Receive-only hardware first.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5FD0F-5C11-4589-8AE1-36D01E09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DC16A-9FF7-4CFE-A4FD-762BB4C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Synthetic identifiers and private tenant.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1080B-B094-4483-AD27-7DB1E257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E7A617-6400-4EAC-A6EA-5670897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Preserve IQ, PCAP, logs, and hashes.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C32974-2A53-448B-B70A-F6D59FB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90C50-6C99-4874-A229-388ACF2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Any TX requires shielded/cabled path and approval.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BC9703-8BB6-4F29-9F74-A829A3C0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Planned work; no RF analyzer has been implemented yet.</a:t>
            </a:r>
          </a:p>
        </p:txBody>
      </p:sp>
    </p:spTree>
    <p:extLst>
      <p:ext uri="{BB962C8B-B14F-4D97-AF65-F5344CB8AC3E}">
        <p14:creationId xmlns:p14="http://schemas.microsoft.com/office/powerpoint/2010/main" val="1744724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C6408DC-42D9-44E3-96C3-54C4842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A959BE3-F274-4ED0-85CD-B7852B75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FDFC28-62CB-44EB-AC71-9B879D5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Raspberry Pi 4 will host the future gateway prototype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D883B3-16EF-4B2B-952E-57FC5ABC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14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BBB83BC-1E3D-40DF-AF09-BF38107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7B012-B0D2-4B09-97BA-DAA13360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448B4-E397-481D-9870-69CFFAE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A0403-0CCD-432F-9136-A778527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70499-1AD6-4BE8-B48D-B46294D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PROTOTYPE / ASSEMBLY AND EXPERIMENTATION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48AD-2CFF-47F6-A240-D4D61B1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Planned hardware path: Raspberry Pi 4 + compatible HAT + RAK5146 SPI AS923. The task is to mount, wire, power, and test the prototype.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e275336e24880"/>
          <a:stretch xmlns:a="http://schemas.openxmlformats.org/drawingml/2006/main"/>
        </p:blipFill>
        <p:spPr>
          <a:xfrm xmlns:a="http://schemas.openxmlformats.org/drawingml/2006/main">
            <a:off x="533400" y="3278981"/>
            <a:ext cx="1143000" cy="64293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6148-37A5-401B-8426-1E6B860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623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34989-D2A9-4368-BA14-7F422F4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90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Raspberry Pi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7DBA8-0F07-4B4D-BEFE-3792022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gateway computer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35914-C7C2-4A13-8B7F-0256287C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4DA2-F9EF-4485-AE75-735EC7E5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623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52200-291A-4DA3-9BBA-7F2DE166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RAK5146 SPI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37E87-8E32-4227-A861-5BCA30F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AS923 900-928 MHz concentrator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91E20-090A-4BD0-9313-F6F6935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DF676-90EE-420E-9BC4-DD0FF8A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2133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C22DF-34F3-409B-960E-66F6BA74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Private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ChirpStack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D1964-D1E7-4C88-930C-AB29D61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CB85F-BCF0-4688-8E9B-97B2425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ASSEMBLY 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BB9B3-C149-4399-84B5-A2FDEB7C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Mount the concentrator, connect both antenna paths, use wired Ethernet first, and verify one clean packet path.</a:t>
            </a:r>
          </a:p>
        </p:txBody>
      </p:sp>
    </p:spTree>
    <p:extLst>
      <p:ext uri="{BB962C8B-B14F-4D97-AF65-F5344CB8AC3E}">
        <p14:creationId xmlns:p14="http://schemas.microsoft.com/office/powerpoint/2010/main" val="34638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728B482-8762-47F4-AA6E-9A67AA7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4CDEB1E-281F-4380-B795-04368AF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D6B0C3-62BF-4B3B-B0A1-39EE420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WisBlock provides the future sensor-side prototype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6ADF65-90E2-4C8F-B9D6-DA91A9F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15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300EC2-08A7-415B-ADFA-7489D1B1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92777-2B28-4D05-90DF-29CAA5A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2CC23-7F38-404A-9708-803A0C3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9E1BC-2008-44A0-980F-60AD4AD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C75D8-3401-4318-AE65-32D6942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PROTOTYPE / ASSEMBLY AND SENSOR 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25167-7B53-4325-82DE-1A50B94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Start with one RAK4631 node, one RAK19007/19001 base, and one compatible sensor. Test the payload path before adding battery, solar, or cellular options.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A4E98-0962-4ECB-B901-4EFAE34A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0D537-48EA-4DE4-8E78-25F8652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RAK4631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F3029-515E-447D-A23B-AC5AF32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MCU + LoRa radio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4332B-36D2-461A-82DA-3FC14BC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6B60A-60A1-425D-8ECC-3F06129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9A8DC-7DF2-463A-AC9A-27324E4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RAK19007 / 19001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F5730-95CA-4CC7-B025-E6B570B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WisBlock base 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215D6-7616-41AD-9317-B888B3F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81022-21BF-4089-985A-5B07B6A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86F45-EA82-4877-8380-BB0F3BF5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One sensor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B8089-8E4A-4B29-B1EF-1858316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soil, weather, or RS485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345DD-64C3-489E-BF6E-78014D04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BE644-D276-4EEB-A974-CC7E357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AC731-0D0C-4434-A0EC-F7BA74B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Power later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422D8-2624-4DB3-9736-D7699446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battery / solar after bench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D59F3-F631-4CCA-9876-9A5DD0B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1125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4BE0E-1340-4BFE-A34E-FC13351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FIRST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156D6-8A4E-4E5B-887A-1227362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86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 one sensor, send one synthetic OTAA uplink, record the raw payload, then add the RAK-specific decoder and downstream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4167130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C17977-F02B-4C6C-BA2F-3EA6833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D8205C1-3CCD-4559-AE1F-AA27191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322F12-8B70-4F26-B43B-37932FE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Hyperledger Fabric can store selected audit records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E8E8EA-7B03-462E-8F65-988917A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16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5F1DF3-4D70-44DD-AA63-31B14D56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B168-1A76-45E0-82A9-A6171C2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CE7B6-25CF-4159-A70A-A9A5BE5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A159C-7CDE-47D1-A590-08A505E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787DC-C31D-40C8-87F9-C996B62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EXPLORATION / NOT IMPLEMENTED YET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14b1c1e444861"/>
          <a:stretch xmlns:a="http://schemas.openxmlformats.org/drawingml/2006/main"/>
        </p:blipFill>
        <p:spPr>
          <a:xfrm xmlns:a="http://schemas.openxmlformats.org/drawingml/2006/main">
            <a:off x="857250" y="24384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A612-1811-45F9-8D92-A29EECD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Node-RED can send selected events or hashes to Fabric when a shared, tamper-evident record is required. PostgreSQL remains the detailed telemetry store.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4B78-3C9F-469C-A33E-ECF0DD1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4F74C-339F-44A4-914F-0C7050C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52B11-5E21-464A-BE88-A3C1DE5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full detail in 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359EA-E93A-473C-A07F-51ADC8D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92B1E-493B-4729-AE61-CAF84914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F704F-1D07-415C-A3E2-A590AE8A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Node-RED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80FD8-CEC4-4F00-BB0E-4604BDF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select / validate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BF6F4-A5E1-4D75-A5FB-570748E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7C64D-CBE4-4D96-850E-EACE0E9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820BF-866C-45B8-AB48-EF4AB53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Fabric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D1F38-BAD3-4813-85F5-44775113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shared ledger entry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2E5A8-17F2-4CEF-9E1F-3A264E9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E78CC-36A5-4D2E-AB25-C8B5DC4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0F385-447C-4CF3-89EF-1BD75D40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7FFD5-5A82-49AA-80D6-2D9D6E5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traceable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91FCA-B11F-4B4C-B7AB-93DD6E5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381D5-5DF2-4E63-A747-AFDA471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DESIGN 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04B95-4932-4500-ABF2-24D7231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Which events need shared verification, and which belong only in the telemetry database?</a:t>
            </a:r>
          </a:p>
        </p:txBody>
      </p:sp>
    </p:spTree>
    <p:extLst>
      <p:ext uri="{BB962C8B-B14F-4D97-AF65-F5344CB8AC3E}">
        <p14:creationId xmlns:p14="http://schemas.microsoft.com/office/powerpoint/2010/main" val="1313360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BA6F867-F6F8-454A-8113-23F6BBB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37EDC93-5A72-436C-8979-3FE9836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B725E-D029-494D-B51E-351B331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What I learned from the UG65 and Dragino work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7EC1DD-6962-4CFF-BB31-64AC6BB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17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A42035-BC21-4311-9DA1-9A75977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C0010-D493-4AFA-9628-C8AA78D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BFE7-C895-44E5-BD1C-17514DA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82E3-C35F-4DE4-9A7B-C468047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work connected protocol behavior to the physical gateway, server configuration, decoder output, and application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4D644-64D8-4DC1-819E-21633C5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AE0DF-B881-4101-92A1-667A38A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Trace a packet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DC75A-A266-48A8-9BED-6596E1A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71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Follow one uplink from RF reception to the database and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A9496-1C3F-4C18-AC68-25137A4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515F-4C87-4FF3-B525-9A70F8B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9A119-AAE4-41F2-80CB-152CF2A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Separate responsibilities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FC6F0-2F2D-4CA4-8F59-6B93034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gateway forwards packets; ChirpStack validates state and decodes payloads.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5C31C-DCC5-4122-A528-6DA92CA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1FD4D-A577-4F73-A42F-121CCBA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ADA61-DD03-422E-A725-542A7113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Check the decoder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4EFF4-4FBC-4868-9ADC-5C6D943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95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Confirm raw bytes, device profile, field names, and charts agree.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0C5DE-3117-4E99-9CC9-2BB8DD2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0DF7B-AADE-4878-962E-85E340D7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11EB3-2EEF-4D64-BF16-9F3CCB5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Keep the setup repeatable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2F256-224D-4D79-A231-F03B6679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57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Record AP settings, IP addresses, ports, logs, and timing.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78F6A-63BB-47B9-A143-1E6D0D8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FBEFA-2B4E-4D6D-AE3E-3A2EE0B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31A09-F49B-423E-9341-ECF6D20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Next: repeat the same trace with a second controlled sensor scenario.</a:t>
            </a:r>
          </a:p>
        </p:txBody>
      </p:sp>
    </p:spTree>
    <p:extLst>
      <p:ext uri="{BB962C8B-B14F-4D97-AF65-F5344CB8AC3E}">
        <p14:creationId xmlns:p14="http://schemas.microsoft.com/office/powerpoint/2010/main" val="19686702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0075B68-42A1-4122-9FC3-00BC818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87F5EA8-1780-419C-8826-3B455C9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4FF0D-97F3-42DC-9052-8CE76C32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Future work: assemble hardware, then connect the prototype path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9DC46D-72A1-4526-861B-E4F96A0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18 / 18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B593FC-ED36-4CBF-9610-BC6CD0F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31C1E-1D44-4728-BD18-CBEDACF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11B83-A1D4-4A1A-905A-05A67C8B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F6422-3207-4661-AE54-AF673AC3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the checklist before power-on. Assemble one gateway and one node, capture the first uplink, then connect the application path.</a:t>
            </a:r>
          </a:p>
        </p:txBody>
      </p:sp>
      <p:sp>
        <p:nvSpPr>
          <p:cNvPr id="9" name="checklist-1">
            <a:extLst xmlns:a="http://schemas.openxmlformats.org/drawingml/2006/main">
              <a:ext uri="{FF2B5EF4-FFF2-40B4-BE49-F238E27FC236}">
                <a16:creationId xmlns:a16="http://schemas.microsoft.com/office/drawing/2014/main" id="{203E7900-1756-468C-81F0-B5CFC73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B4BF7-4029-4C05-AE22-AE5131C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F830A-9FD3-4F30-B46A-4673003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EAC0-223A-4DD1-986F-A297126B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RAK5146 SPI / AS923 900-928 MHz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85BDF-0466-4C00-98BF-7757C2EF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010B3-602F-497A-A3A5-00F77E2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Raspberry Pi 4 + compatible 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7BFAD-C397-40D8-B3C8-1084383D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1573D-59EB-4559-A3D7-39DB755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LoRa antenna + active GPS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E7FB0-893F-438A-9F54-358FE104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0A93E-3EA3-42EF-B537-89424F3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Two pigtails, 5 V / 3 A, microSD, Ethernet</a:t>
            </a:r>
          </a:p>
        </p:txBody>
      </p:sp>
      <p:sp>
        <p:nvSpPr>
          <p:cNvPr id="19" name="checklist-2">
            <a:extLst xmlns:a="http://schemas.openxmlformats.org/drawingml/2006/main">
              <a:ext uri="{FF2B5EF4-FFF2-40B4-BE49-F238E27FC236}">
                <a16:creationId xmlns:a16="http://schemas.microsoft.com/office/drawing/2014/main" id="{DA4C85D2-39CD-49AE-9DC7-6DDF770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EC826-C6A7-46F8-B03A-58B780D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WISBLOCK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D9120-DB01-48DF-9AE2-E472D81A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55685-B1C8-42F8-9188-F5E637D6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RAK4631 core + RAK19007/19001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F59E4-229E-4A6A-B500-341AB34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808B4-B54A-40DF-B338-707D0E4E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Matching 900 MHz node antenna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D1DFF-8151-4CA8-B24E-51D14E7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79287-EBB9-4B93-A9B3-4526FFF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USB-C cable + one compatible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1E731-AA75-48C4-9BE3-F657D76F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173F0-BF6D-408C-AA1A-13F0D2C5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Battery/solar later; cellular None first</a:t>
            </a:r>
          </a:p>
        </p:txBody>
      </p:sp>
      <p:sp>
        <p:nvSpPr>
          <p:cNvPr id="29" name="checklist-3">
            <a:extLst xmlns:a="http://schemas.openxmlformats.org/drawingml/2006/main">
              <a:ext uri="{FF2B5EF4-FFF2-40B4-BE49-F238E27FC236}">
                <a16:creationId xmlns:a16="http://schemas.microsoft.com/office/drawing/2014/main" id="{C6349C0E-CE5C-4005-ADAA-4218041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C96D0-04A2-4487-B0F4-665B202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SAFE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B51196-14DF-4482-A76C-4732C949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2B06DF-9990-4161-B67C-15B4DD2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Verify labels and parts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D94DE-BA16-4966-ABC4-6FADCE38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7E4133-3C4B-41B8-905C-E068468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Attach RF paths before power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1D6D0-4D3D-417E-90C9-D2B1906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79659F-0BE1-42F0-9305-C270FC3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Use one gateway + one node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E879B-FB07-4EF3-ADE7-9D7282E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004BB2-E455-4B0C-8E4E-0E5F1B2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Capture first OTAA uplink, then integrate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4AE7C0-4A3E-4EED-A8F0-088E193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537C62-BEB0-4FD3-A58B-E79B5A41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NEXT STEPS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7DAF8-1E6C-4D21-BAF0-F06ACF8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Assemble the Pi gateway -&gt; assemble one WisBlock node -&gt; capture the first OTAA uplink -&gt; connect PostgreSQL / Grafana / Node-RED -&gt; evaluate RF analyzer and Fabric paths.</a:t>
            </a:r>
          </a:p>
        </p:txBody>
      </p:sp>
    </p:spTree>
    <p:extLst>
      <p:ext uri="{BB962C8B-B14F-4D97-AF65-F5344CB8AC3E}">
        <p14:creationId xmlns:p14="http://schemas.microsoft.com/office/powerpoint/2010/main" val="87008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2026-08-02T11:45:24.3960000Z</dcterms:created>
  <dcterms:modified xsi:type="dcterms:W3CDTF">2026-08-02T11:45:24.3960000Z</dcterms:modified>
</coreProperties>
</file>