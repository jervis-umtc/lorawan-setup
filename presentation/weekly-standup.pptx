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8ddaf1720e4b36" /><Relationship Type="http://schemas.openxmlformats.org/officeDocument/2006/relationships/extended-properties" Target="/docProps/app.xml" Id="Reb611da4704b48bf" /><Relationship Type="http://schemas.openxmlformats.org/officeDocument/2006/relationships/officeDocument" Target="/ppt/presentation.xml" Id="Rcf7cd6e240f546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c5c1e9ba744154"/>
  </p:sldMasterIdLst>
  <p:notesMasterIdLst>
    <p:notesMasterId xmlns:r="http://schemas.openxmlformats.org/officeDocument/2006/relationships" r:id="Raaa7df348dd64aa3"/>
  </p:notesMasterIdLst>
  <p:sldIdLst>
    <p:sldId xmlns:r="http://schemas.openxmlformats.org/officeDocument/2006/relationships" id="256" r:id="Re1bfcd10e1024d17"/>
    <p:sldId xmlns:r="http://schemas.openxmlformats.org/officeDocument/2006/relationships" id="257" r:id="R4f6ae094f7914419"/>
    <p:sldId xmlns:r="http://schemas.openxmlformats.org/officeDocument/2006/relationships" id="258" r:id="R01deedb161984a7b"/>
    <p:sldId xmlns:r="http://schemas.openxmlformats.org/officeDocument/2006/relationships" id="259" r:id="R54a236324d3d4892"/>
    <p:sldId xmlns:r="http://schemas.openxmlformats.org/officeDocument/2006/relationships" id="260" r:id="R6f571733f13c48fc"/>
    <p:sldId xmlns:r="http://schemas.openxmlformats.org/officeDocument/2006/relationships" id="261" r:id="Rb5c81ca642b44f0a"/>
    <p:sldId xmlns:r="http://schemas.openxmlformats.org/officeDocument/2006/relationships" id="262" r:id="R0140a8b8696d4e23"/>
    <p:sldId xmlns:r="http://schemas.openxmlformats.org/officeDocument/2006/relationships" id="263" r:id="R8dbc92c75a3b457a"/>
    <p:sldId xmlns:r="http://schemas.openxmlformats.org/officeDocument/2006/relationships" id="264" r:id="R17f2af55abbf4a3c"/>
    <p:sldId xmlns:r="http://schemas.openxmlformats.org/officeDocument/2006/relationships" id="265" r:id="Rd51bc355ed9b4db0"/>
    <p:sldId xmlns:r="http://schemas.openxmlformats.org/officeDocument/2006/relationships" id="266" r:id="R2d83762fae9c464e"/>
    <p:sldId xmlns:r="http://schemas.openxmlformats.org/officeDocument/2006/relationships" id="267" r:id="R6be4fccb69ad4b13"/>
    <p:sldId xmlns:r="http://schemas.openxmlformats.org/officeDocument/2006/relationships" id="268" r:id="Rc72171c9e161448b"/>
    <p:sldId xmlns:r="http://schemas.openxmlformats.org/officeDocument/2006/relationships" id="269" r:id="Rc5603433339041b6"/>
    <p:sldId xmlns:r="http://schemas.openxmlformats.org/officeDocument/2006/relationships" id="270" r:id="Rd0e5f686310042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1f64e8d0c647df" /><Relationship Type="http://schemas.openxmlformats.org/officeDocument/2006/relationships/slideMaster" Target="/ppt/slideMasters/slideMaster1.xml" Id="R58c5c1e9ba744154" /><Relationship Type="http://schemas.openxmlformats.org/officeDocument/2006/relationships/notesMaster" Target="/ppt/notesMasters/notesMaster1.xml" Id="Raaa7df348dd64aa3" /><Relationship Type="http://schemas.openxmlformats.org/officeDocument/2006/relationships/presProps" Target="/ppt/presProps.xml" Id="R9457d9bcc76b4cc6" /><Relationship Type="http://schemas.openxmlformats.org/officeDocument/2006/relationships/tableStyles" Target="/ppt/tableStyles.xml" Id="R1b2d7c0996ae44de" /><Relationship Type="http://schemas.openxmlformats.org/officeDocument/2006/relationships/slide" Target="/ppt/slides/slide1.xml" Id="Re1bfcd10e1024d17" /><Relationship Type="http://schemas.openxmlformats.org/officeDocument/2006/relationships/slide" Target="/ppt/slides/slide2.xml" Id="R4f6ae094f7914419" /><Relationship Type="http://schemas.openxmlformats.org/officeDocument/2006/relationships/slide" Target="/ppt/slides/slide3.xml" Id="R01deedb161984a7b" /><Relationship Type="http://schemas.openxmlformats.org/officeDocument/2006/relationships/slide" Target="/ppt/slides/slide4.xml" Id="R54a236324d3d4892" /><Relationship Type="http://schemas.openxmlformats.org/officeDocument/2006/relationships/slide" Target="/ppt/slides/slide5.xml" Id="R6f571733f13c48fc" /><Relationship Type="http://schemas.openxmlformats.org/officeDocument/2006/relationships/slide" Target="/ppt/slides/slide6.xml" Id="Rb5c81ca642b44f0a" /><Relationship Type="http://schemas.openxmlformats.org/officeDocument/2006/relationships/slide" Target="/ppt/slides/slide7.xml" Id="R0140a8b8696d4e23" /><Relationship Type="http://schemas.openxmlformats.org/officeDocument/2006/relationships/slide" Target="/ppt/slides/slide8.xml" Id="R8dbc92c75a3b457a" /><Relationship Type="http://schemas.openxmlformats.org/officeDocument/2006/relationships/slide" Target="/ppt/slides/slide9.xml" Id="R17f2af55abbf4a3c" /><Relationship Type="http://schemas.openxmlformats.org/officeDocument/2006/relationships/slide" Target="/ppt/slides/slide10.xml" Id="Rd51bc355ed9b4db0" /><Relationship Type="http://schemas.openxmlformats.org/officeDocument/2006/relationships/slide" Target="/ppt/slides/slide11.xml" Id="R2d83762fae9c464e" /><Relationship Type="http://schemas.openxmlformats.org/officeDocument/2006/relationships/slide" Target="/ppt/slides/slide12.xml" Id="R6be4fccb69ad4b13" /><Relationship Type="http://schemas.openxmlformats.org/officeDocument/2006/relationships/slide" Target="/ppt/slides/slide13.xml" Id="Rc72171c9e161448b" /><Relationship Type="http://schemas.openxmlformats.org/officeDocument/2006/relationships/slide" Target="/ppt/slides/slide14.xml" Id="Rc5603433339041b6" /><Relationship Type="http://schemas.openxmlformats.org/officeDocument/2006/relationships/slide" Target="/ppt/slides/slide15.xml" Id="Rd0e5f686310042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20cbc5b5f745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73e4a9ff54d2f" /><Relationship Type="http://schemas.openxmlformats.org/officeDocument/2006/relationships/notesMaster" Target="/ppt/notesMasters/notesMaster1.xml" Id="R533597aea77c47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ccf122c1344317" /><Relationship Type="http://schemas.openxmlformats.org/officeDocument/2006/relationships/notesMaster" Target="/ppt/notesMasters/notesMaster1.xml" Id="Rda343cd3a3f346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bcd498ed0e419b" /><Relationship Type="http://schemas.openxmlformats.org/officeDocument/2006/relationships/notesMaster" Target="/ppt/notesMasters/notesMaster1.xml" Id="R1b99c85f727047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0c2394a5e9465f" /><Relationship Type="http://schemas.openxmlformats.org/officeDocument/2006/relationships/notesMaster" Target="/ppt/notesMasters/notesMaster1.xml" Id="R374ba14a9c724a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d3f0c8d514823" /><Relationship Type="http://schemas.openxmlformats.org/officeDocument/2006/relationships/notesMaster" Target="/ppt/notesMasters/notesMaster1.xml" Id="R45280b78e42147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e908b96341468e" /><Relationship Type="http://schemas.openxmlformats.org/officeDocument/2006/relationships/notesMaster" Target="/ppt/notesMasters/notesMaster1.xml" Id="Rc7daa9d864424f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7b0da124704b95" /><Relationship Type="http://schemas.openxmlformats.org/officeDocument/2006/relationships/notesMaster" Target="/ppt/notesMasters/notesMaster1.xml" Id="R1676a194b1344f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842a52c1484ee3" /><Relationship Type="http://schemas.openxmlformats.org/officeDocument/2006/relationships/notesMaster" Target="/ppt/notesMasters/notesMaster1.xml" Id="Rd2233651ac2f45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400a519d544478" /><Relationship Type="http://schemas.openxmlformats.org/officeDocument/2006/relationships/notesMaster" Target="/ppt/notesMasters/notesMaster1.xml" Id="Rb257e423610544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b12398927446bf" /><Relationship Type="http://schemas.openxmlformats.org/officeDocument/2006/relationships/notesMaster" Target="/ppt/notesMasters/notesMaster1.xml" Id="R9b1e236e38c848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351d6cbd814ac7" /><Relationship Type="http://schemas.openxmlformats.org/officeDocument/2006/relationships/notesMaster" Target="/ppt/notesMasters/notesMaster1.xml" Id="R93a575509f7241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739fc6bbe74aec" /><Relationship Type="http://schemas.openxmlformats.org/officeDocument/2006/relationships/notesMaster" Target="/ppt/notesMasters/notesMaster1.xml" Id="Re271e621933743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e0b07133454822" /><Relationship Type="http://schemas.openxmlformats.org/officeDocument/2006/relationships/notesMaster" Target="/ppt/notesMasters/notesMaster1.xml" Id="R7f0e7b42f4274a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a9a361d03e42fb" /><Relationship Type="http://schemas.openxmlformats.org/officeDocument/2006/relationships/notesMaster" Target="/ppt/notesMasters/notesMaster1.xml" Id="Rdca3496afcb843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2d6e14224d4eb1" /><Relationship Type="http://schemas.openxmlformats.org/officeDocument/2006/relationships/notesMaster" Target="/ppt/notesMasters/notesMaster1.xml" Id="R063eccc7b55644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presentation/STANDUP_PRESENTATION_DECK.md</a:t>
            </a:r>
          </a:p>
          <a:p xmlns:a="http://schemas.openxmlformats.org/drawingml/2006/main">
            <a:r>
              <a:t>- Presentation logo assets under presentation/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docs/02-offline-direct-ap-setup-guide.md</a:t>
            </a:r>
          </a:p>
          <a:p xmlns:a="http://schemas.openxmlformats.org/drawingml/2006/main">
            <a:r>
              <a:t>- docs/03-postgres-integration-guide.md</a:t>
            </a:r>
          </a:p>
          <a:p xmlns:a="http://schemas.openxmlformats.org/drawingml/2006/main">
            <a:r>
              <a:t>- docs/04-grafana-integration-guide.md</a:t>
            </a:r>
          </a:p>
          <a:p xmlns:a="http://schemas.openxmlformats.org/drawingml/2006/main">
            <a:r>
              <a:t>- docs/05-node-red-integration-guide.md</a:t>
            </a:r>
          </a:p>
          <a:p xmlns:a="http://schemas.openxmlformats.org/drawingml/2006/main">
            <a:r>
              <a:t>- docs/06-lorawan-rf-security-toolkit-brief.md</a:t>
            </a:r>
          </a:p>
          <a:p xmlns:a="http://schemas.openxmlformats.org/drawingml/2006/main">
            <a:r>
              <a:t>- docs/07-lorawan-rf-and-protocol-testing-setup-guide.md</a:t>
            </a:r>
          </a:p>
          <a:p xmlns:a="http://schemas.openxmlformats.org/drawingml/2006/main">
            <a:r>
              <a:t>- docs/08-lorawan-security-testing-runbook.md</a:t>
            </a:r>
          </a:p>
          <a:p xmlns:a="http://schemas.openxmlformats.org/drawingml/2006/main">
            <a:r>
              <a:t>- docs/09-rak5146-wisblock-gateway-commissioning-manual.md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docs/03-postgres-integration-guide.md</a:t>
            </a:r>
          </a:p>
          <a:p xmlns:a="http://schemas.openxmlformats.org/drawingml/2006/main">
            <a:r>
              <a:t>- docs/04-grafana-integration-guide.md</a:t>
            </a:r>
          </a:p>
          <a:p xmlns:a="http://schemas.openxmlformats.org/drawingml/2006/main">
            <a:r>
              <a:t>- docs/05-node-red-integration-guide.md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docs/06-lorawan-rf-security-toolkit-brief.md</a:t>
            </a:r>
          </a:p>
          <a:p xmlns:a="http://schemas.openxmlformats.org/drawingml/2006/main">
            <a:r>
              <a:t>- docs/07-lorawan-rf-and-protocol-testing-setup-guide.md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docs/configs/chirpstack.toml</a:t>
            </a:r>
          </a:p>
          <a:p xmlns:a="http://schemas.openxmlformats.org/drawingml/2006/main">
            <a:r>
              <a:t>- docs/configs/chirpstack-gateway-bridge.toml</a:t>
            </a:r>
          </a:p>
          <a:p xmlns:a="http://schemas.openxmlformats.org/drawingml/2006/main">
            <a:r>
              <a:t>- docs/codecs/dragino-lsn50v2-s31-decoder.js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docs/01-master-deployment-guide.md</a:t>
            </a:r>
          </a:p>
          <a:p xmlns:a="http://schemas.openxmlformats.org/drawingml/2006/main">
            <a:r>
              <a:t>- docs/02-offline-direct-ap-setup-guide.md</a:t>
            </a:r>
          </a:p>
          <a:p xmlns:a="http://schemas.openxmlformats.org/drawingml/2006/main">
            <a:r>
              <a:t>- docs/configs/docker-compose.yml</a:t>
            </a:r>
          </a:p>
          <a:p xmlns:a="http://schemas.openxmlformats.org/drawingml/2006/main">
            <a:r>
              <a:t>- docs/configs/chirpstack-gateway-bridge.toml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docs/03-postgres-integration-guide.md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docs/configs/chirpstack.toml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docs/04-grafana-integration-guide.md</a:t>
            </a:r>
          </a:p>
          <a:p xmlns:a="http://schemas.openxmlformats.org/drawingml/2006/main">
            <a:r>
              <a:t>- docs/03-postgres-integration-guide.md</a:t>
            </a:r>
          </a:p>
          <a:p xmlns:a="http://schemas.openxmlformats.org/drawingml/2006/main">
            <a:r>
              <a:t>- presentation/grafana.webp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docs/05-node-red-integration-guide.md</a:t>
            </a:r>
          </a:p>
          <a:p xmlns:a="http://schemas.openxmlformats.org/drawingml/2006/main">
            <a:r>
              <a:t>- docs/04-grafana-integration-guide.md</a:t>
            </a:r>
          </a:p>
          <a:p xmlns:a="http://schemas.openxmlformats.org/drawingml/2006/main">
            <a:r>
              <a:t>- docs/configs/docker-compose.yml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docs/06-lorawan-rf-security-toolkit-brief.md</a:t>
            </a:r>
          </a:p>
          <a:p xmlns:a="http://schemas.openxmlformats.org/drawingml/2006/main">
            <a:r>
              <a:t>- docs/07-lorawan-rf-and-protocol-testing-setup-guide.md</a:t>
            </a:r>
          </a:p>
          <a:p xmlns:a="http://schemas.openxmlformats.org/drawingml/2006/main">
            <a:r>
              <a:t>- docs/08-lorawan-security-testing-runbook.md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docs/09-rak5146-wisblock-gateway-commissioning-manual.md</a:t>
            </a:r>
          </a:p>
          <a:p xmlns:a="http://schemas.openxmlformats.org/drawingml/2006/main">
            <a:r>
              <a:t>- hardware-checklist.pdf</a:t>
            </a:r>
          </a:p>
          <a:p xmlns:a="http://schemas.openxmlformats.org/drawingml/2006/main">
            <a:r>
              <a:t>- presentation/Raspberry-Pi-Logo-2012.png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docs/09-rak5146-wisblock-gateway-commissioning-manual.md</a:t>
            </a:r>
          </a:p>
          <a:p xmlns:a="http://schemas.openxmlformats.org/drawingml/2006/main">
            <a:r>
              <a:t>- hardware-checklist.pdf</a:t>
            </a:r>
          </a:p>
          <a:p xmlns:a="http://schemas.openxmlformats.org/drawingml/2006/main">
            <a:r>
              <a:t>- presentation/STANDUP_PRESENTATION_DECK.md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docs/05-node-red-integration-guide.md</a:t>
            </a:r>
          </a:p>
          <a:p xmlns:a="http://schemas.openxmlformats.org/drawingml/2006/main">
            <a:r>
              <a:t>- presentation/STANDUP_PRESENTATION_DECK.md</a:t>
            </a:r>
          </a:p>
          <a:p xmlns:a="http://schemas.openxmlformats.org/drawingml/2006/main">
            <a:r>
              <a:t>- presentation/hyperledgerfabric.png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docs/01-master-deployment-guide.md through docs/09-rak5146-wisblock-gateway-commissioning-manual.md</a:t>
            </a:r>
          </a:p>
          <a:p xmlns:a="http://schemas.openxmlformats.org/drawingml/2006/main">
            <a:r>
              <a:t>- hardware-checklist.pdf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hardware-checklist.pdf</a:t>
            </a:r>
          </a:p>
          <a:p xmlns:a="http://schemas.openxmlformats.org/drawingml/2006/main">
            <a:r>
              <a:t>- docs/09-rak5146-wisblock-gateway-commissioning-manual.md</a:t>
            </a:r>
          </a:p>
          <a:p xmlns:a="http://schemas.openxmlformats.org/drawingml/2006/main">
            <a:r>
              <a:t>- docs/configs/chirpstack-gateway-bridge.toml</a:t>
            </a:r>
          </a:p>
          <a:p xmlns:a="http://schemas.openxmlformats.org/drawingml/2006/main">
            <a:r>
              <a:t>- docs/06-lorawan-rf-security-toolkit-brief.md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198df77054a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d95d9a9d924969" /><Relationship Type="http://schemas.openxmlformats.org/officeDocument/2006/relationships/slideLayout" Target="/ppt/slideLayouts/slideLayout1.xml" Id="Rcf1eff73593241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1eff73593241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b55243f6a4118" /><Relationship Type="http://schemas.openxmlformats.org/officeDocument/2006/relationships/image" Target="/ppt/media/image.bin" Id="R9a1100a1cf0d4bab" /><Relationship Type="http://schemas.openxmlformats.org/officeDocument/2006/relationships/image" Target="/ppt/media/image.png" Id="Rcd6620b8b08b44f2" /><Relationship Type="http://schemas.openxmlformats.org/officeDocument/2006/relationships/image" Target="/ppt/media/image2.png" Id="R3c8fab87feef4956" /><Relationship Type="http://schemas.openxmlformats.org/officeDocument/2006/relationships/image" Target="/ppt/media/image2.bin" Id="R404db55ada164e2d" /><Relationship Type="http://schemas.openxmlformats.org/officeDocument/2006/relationships/image" Target="/ppt/media/image3.png" Id="Re9c172f41f1746c8" /><Relationship Type="http://schemas.openxmlformats.org/officeDocument/2006/relationships/image" Target="/ppt/media/image4.png" Id="R0a363e68c95144c1" /><Relationship Type="http://schemas.openxmlformats.org/officeDocument/2006/relationships/image" Target="/ppt/media/image5.png" Id="R0a27935e19f44dd2" /><Relationship Type="http://schemas.openxmlformats.org/officeDocument/2006/relationships/notesSlide" Target="/ppt/notesSlides/notesSlide1.xml" Id="Re920ad8b6fb249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35e36370a403d" /><Relationship Type="http://schemas.openxmlformats.org/officeDocument/2006/relationships/notesSlide" Target="/ppt/notesSlides/notesSlide2.xml" Id="Rf548aac5545c4e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fd2e6bab2492c" /><Relationship Type="http://schemas.openxmlformats.org/officeDocument/2006/relationships/notesSlide" Target="/ppt/notesSlides/notesSlide3.xml" Id="Rf3a590d244c84f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05a19937640a0" /><Relationship Type="http://schemas.openxmlformats.org/officeDocument/2006/relationships/notesSlide" Target="/ppt/notesSlides/notesSlide4.xml" Id="R569580f8591c4e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8cf3606bc48b9" /><Relationship Type="http://schemas.openxmlformats.org/officeDocument/2006/relationships/image" Target="/ppt/media/image6.png" Id="Ree443a45fbcf4663" /><Relationship Type="http://schemas.openxmlformats.org/officeDocument/2006/relationships/notesSlide" Target="/ppt/notesSlides/notesSlide5.xml" Id="R57d04bbdea7a43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645dad58448a5" /><Relationship Type="http://schemas.openxmlformats.org/officeDocument/2006/relationships/notesSlide" Target="/ppt/notesSlides/notesSlide6.xml" Id="Rc887790b23134f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665e260cc4906" /><Relationship Type="http://schemas.openxmlformats.org/officeDocument/2006/relationships/image" Target="/ppt/media/image7.png" Id="R3eb2e410462a4186" /><Relationship Type="http://schemas.openxmlformats.org/officeDocument/2006/relationships/notesSlide" Target="/ppt/notesSlides/notesSlide7.xml" Id="R444c6618008543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4494643014ef4" /><Relationship Type="http://schemas.openxmlformats.org/officeDocument/2006/relationships/image" Target="/ppt/media/image3.bin" Id="R16810d7dc8d74bce" /><Relationship Type="http://schemas.openxmlformats.org/officeDocument/2006/relationships/notesSlide" Target="/ppt/notesSlides/notesSlide8.xml" Id="R34a630185ed347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e24f18dea44bf" /><Relationship Type="http://schemas.openxmlformats.org/officeDocument/2006/relationships/image" Target="/ppt/media/image8.png" Id="R849dda99c32348e5" /><Relationship Type="http://schemas.openxmlformats.org/officeDocument/2006/relationships/notesSlide" Target="/ppt/notesSlides/notesSlide9.xml" Id="R4de6db6f949b42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2ccb0bb2344f8" /><Relationship Type="http://schemas.openxmlformats.org/officeDocument/2006/relationships/notesSlide" Target="/ppt/notesSlides/notesSlide10.xml" Id="Rf0c33387bf4f43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8f37d41cc425e" /><Relationship Type="http://schemas.openxmlformats.org/officeDocument/2006/relationships/image" Target="/ppt/media/image9.png" Id="R0d5b2e2b23a446d7" /><Relationship Type="http://schemas.openxmlformats.org/officeDocument/2006/relationships/notesSlide" Target="/ppt/notesSlides/notesSlide11.xml" Id="Rc85356d374d64a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96789558d462a" /><Relationship Type="http://schemas.openxmlformats.org/officeDocument/2006/relationships/notesSlide" Target="/ppt/notesSlides/notesSlide12.xml" Id="R82e95604008446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5847f80a34e4f" /><Relationship Type="http://schemas.openxmlformats.org/officeDocument/2006/relationships/image" Target="/ppt/media/image10.png" Id="Rf0e38dd2b9a7412c" /><Relationship Type="http://schemas.openxmlformats.org/officeDocument/2006/relationships/notesSlide" Target="/ppt/notesSlides/notesSlide13.xml" Id="Rdadde1fcff4f47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a0ccaab8c4fe6" /><Relationship Type="http://schemas.openxmlformats.org/officeDocument/2006/relationships/notesSlide" Target="/ppt/notesSlides/notesSlide14.xml" Id="R77783494017949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26849eab54fa5" /><Relationship Type="http://schemas.openxmlformats.org/officeDocument/2006/relationships/notesSlide" Target="/ppt/notesSlides/notesSlide15.xml" Id="R119fc9f2d59945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51030-6E14-41A5-9BA8-E9817206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00DA7-E9DB-467E-BF3B-21E4B25C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657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56BDB-EFA7-49EA-9C81-642D7A2F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6D66B-6754-4281-94D9-9810C733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3C5FD"/>
                </a:solidFill>
              </a:defRPr>
            </a:pPr>
            <a:r>
              <a:rPr sz="1200" b="1">
                <a:solidFill>
                  <a:srgbClr val="93C5FD"/>
                </a:solidFill>
              </a:rPr>
              <a:t>WEEKLY STANDUP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65628-9277-4312-AC59-ED1E6F01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76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LoRaWAN experiment,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technology learning,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and prototype plans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E9114-D13D-4987-8BB2-F5B62CC0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CBD5E1"/>
                </a:solidFill>
              </a:rPr>
              <a:t>This week's hands-on Milesight UG65 + Dragino experiment,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CBD5E1"/>
                </a:solidFill>
              </a:rPr>
              <a:t>learning, and future prototype plans.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3718B-A20A-45AA-B433-64D30E93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3C5FD"/>
                </a:solidFill>
              </a:defRPr>
            </a:pPr>
            <a:r>
              <a:rPr sz="1200" b="1">
                <a:solidFill>
                  <a:srgbClr val="93C5FD"/>
                </a:solidFill>
              </a:rPr>
              <a:t>Jervis James Pedotim  |  Intern  |  02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883D1-0A2A-4CE5-AC14-15904AEE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6E657-951E-4B7B-AA16-89A7DCB2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09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2E8F0"/>
                </a:solidFill>
              </a:defRPr>
            </a:pPr>
            <a:r>
              <a:rPr sz="1350" b="1">
                <a:solidFill>
                  <a:srgbClr val="E2E8F0"/>
                </a:solidFill>
              </a:rPr>
              <a:t>Technology stack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100a1cf0d4bab"/>
          <a:stretch xmlns:a="http://schemas.openxmlformats.org/drawingml/2006/main"/>
        </p:blipFill>
        <p:spPr>
          <a:xfrm xmlns:a="http://schemas.openxmlformats.org/drawingml/2006/main">
            <a:off x="8763000" y="1998047"/>
            <a:ext cx="1371600" cy="442555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620b8b08b44f2"/>
          <a:stretch xmlns:a="http://schemas.openxmlformats.org/drawingml/2006/main"/>
        </p:blipFill>
        <p:spPr>
          <a:xfrm xmlns:a="http://schemas.openxmlformats.org/drawingml/2006/main">
            <a:off x="10620375" y="196215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fab87feef4956"/>
          <a:stretch xmlns:a="http://schemas.openxmlformats.org/drawingml/2006/main"/>
        </p:blipFill>
        <p:spPr>
          <a:xfrm xmlns:a="http://schemas.openxmlformats.org/drawingml/2006/main">
            <a:off x="9037491" y="2781300"/>
            <a:ext cx="517818" cy="53340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db55ada164e2d"/>
          <a:stretch xmlns:a="http://schemas.openxmlformats.org/drawingml/2006/main"/>
        </p:blipFill>
        <p:spPr>
          <a:xfrm xmlns:a="http://schemas.openxmlformats.org/drawingml/2006/main">
            <a:off x="10610850" y="2781300"/>
            <a:ext cx="533400" cy="53340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172f41f1746c8"/>
          <a:stretch xmlns:a="http://schemas.openxmlformats.org/drawingml/2006/main"/>
        </p:blipFill>
        <p:spPr>
          <a:xfrm xmlns:a="http://schemas.openxmlformats.org/drawingml/2006/main">
            <a:off x="9029700" y="3600450"/>
            <a:ext cx="533400" cy="53340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63e68c95144c1"/>
          <a:stretch xmlns:a="http://schemas.openxmlformats.org/drawingml/2006/main"/>
        </p:blipFill>
        <p:spPr>
          <a:xfrm xmlns:a="http://schemas.openxmlformats.org/drawingml/2006/main">
            <a:off x="10403417" y="3600450"/>
            <a:ext cx="948267" cy="5334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7935e19f44dd2"/>
          <a:stretch xmlns:a="http://schemas.openxmlformats.org/drawingml/2006/main"/>
        </p:blipFill>
        <p:spPr>
          <a:xfrm xmlns:a="http://schemas.openxmlformats.org/drawingml/2006/main">
            <a:off x="9744075" y="4591050"/>
            <a:ext cx="685800" cy="685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12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1C5D05D-3EAA-499F-9FE5-D17AD7BB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F90764F-93CC-4F12-9700-28065F04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2219FA-7CFC-428A-91D5-66DDA89F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This week I experimented with a Milesight UG65 and Dragino sensor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CB082F-9BAC-4B36-9D8E-1AFBA99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02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FACC4EA-AACC-4962-8CB1-079C1E51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6DD11-B4FA-44A8-A4B4-D953DEEC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05C26-9A6B-445A-8388-6C99E79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712B9-307C-4DB8-A1BB-003BE9BD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Hands-on work focused on moving one real LoRaWAN sensor through the local stack and understanding each technical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6A7AF-FBBA-4211-BCA5-80C25E28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3DD10-C86A-4151-9903-10EBE2F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HANDS-ON 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C2896-22FF-4C1A-B7C4-A1FB7879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AE1C6-7ED6-42F5-9379-720B2B2C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Connected the Milesight UG65 in direct AP mode and traced Semtech UDP traffic.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34EB8-29DD-49B1-B4C0-1229DC28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2388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D4C53-6F97-4BC9-A1A1-75ECCD2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2388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Exercised a Dragino LSN50v2-S31 Class A sensor through OTAA.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01734-620D-4E05-8FD2-BCD79918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D9FEF-3E5A-45D8-9BF0-E6996F9A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Validated JavaScript decoding for temperature, humidity, and battery telemetry.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CDAA4-7B8C-4C35-B6FE-79F1B3DD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5863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91CA1-33E6-483C-872D-7DDC3766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5863"/>
            <a:ext cx="54864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Followed the event into PostgreSQL, Grafana, and Node-RED integration paths.</a:t>
            </a:r>
          </a:p>
        </p:txBody>
      </p:sp>
      <p:sp>
        <p:nvSpPr>
          <p:cNvPr id="19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59590AC0-11DB-4D95-B89D-D3A7E44D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45339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B69B5-9F04-46E4-8043-CCB45CB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EXPERIMENT FOCUS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487A7-A108-4B2A-A382-5A6C4456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One sensor,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one gateway,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one traceable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F785C-A4A3-40B0-8E89-2585E79A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2081B-146F-4238-81D3-4422489E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67250"/>
            <a:ext cx="358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Outcome: clearer RF-to-application understanding.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experiment produced a traceable integration baseline.</a:t>
            </a:r>
          </a:p>
        </p:txBody>
      </p:sp>
    </p:spTree>
    <p:extLst>
      <p:ext uri="{BB962C8B-B14F-4D97-AF65-F5344CB8AC3E}">
        <p14:creationId xmlns:p14="http://schemas.microsoft.com/office/powerpoint/2010/main" val="1857530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939CCBF-BAE7-44E5-8165-D41A5CC0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8E865A6-F15B-40A3-93A4-364EDF6B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C57A62-4AA6-4FA8-9D97-7BC9A3A0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This week's experiment traced one Dragino uplink end to end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B58C73-BCBA-4778-8D5B-F057502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03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64DAFB1-4435-4B28-A0AE-20DAE9BA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11C0F-2242-4D8D-93FD-11A85F48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33C0A-DE07-4CFF-9918-34B193B7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87F3B-C6F3-4419-A021-E7B7F026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current path is concrete: Dragino sensor -&gt; Milesight UG65 -&gt; Gateway Bridge -&gt; MQTT -&gt; ChirpStack -&gt; application integrations.</a:t>
            </a:r>
          </a:p>
        </p:txBody>
      </p:sp>
      <p:sp>
        <p:nvSpPr>
          <p:cNvPr id="9" name="architecture-1">
            <a:extLst xmlns:a="http://schemas.openxmlformats.org/drawingml/2006/main">
              <a:ext uri="{FF2B5EF4-FFF2-40B4-BE49-F238E27FC236}">
                <a16:creationId xmlns:a16="http://schemas.microsoft.com/office/drawing/2014/main" id="{BCE875D8-C2A7-4286-9B21-422DB920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96ED4-2610-4F0D-8AC8-EB70475E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Dragino LSN50v2-S31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FDA97-260F-4501-BEE0-5A999F4D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uplink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DEC7B-7CB5-4C10-804B-8A01C74B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3" name="architecture-2">
            <a:extLst xmlns:a="http://schemas.openxmlformats.org/drawingml/2006/main">
              <a:ext uri="{FF2B5EF4-FFF2-40B4-BE49-F238E27FC236}">
                <a16:creationId xmlns:a16="http://schemas.microsoft.com/office/drawing/2014/main" id="{2D98B57D-870F-453F-A295-51419CA7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719C0-2C16-4429-BA82-CD1941B9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Milesight UG65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C1108-3200-4532-8433-6D6D357A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RF to 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A5B54-83AC-4AE5-B2D9-59FBDC94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7" name="architecture-3">
            <a:extLst xmlns:a="http://schemas.openxmlformats.org/drawingml/2006/main">
              <a:ext uri="{FF2B5EF4-FFF2-40B4-BE49-F238E27FC236}">
                <a16:creationId xmlns:a16="http://schemas.microsoft.com/office/drawing/2014/main" id="{46121459-F581-4F79-841A-FF5D1F6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69BC9-E0AE-46B4-9303-1B6F97A6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Gateway Bridge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2630E-3B28-4AF2-8DD1-C7BC3A20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UDP 1700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8F458-6ACC-415E-91FA-EFB33FA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1" name="architecture-4">
            <a:extLst xmlns:a="http://schemas.openxmlformats.org/drawingml/2006/main">
              <a:ext uri="{FF2B5EF4-FFF2-40B4-BE49-F238E27FC236}">
                <a16:creationId xmlns:a16="http://schemas.microsoft.com/office/drawing/2014/main" id="{6D6FCA46-8554-4C80-B92C-71EB34C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B37D3-4BAF-4523-9B49-F9644EC0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MQTT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215D8-F330-4889-8ABE-CBFB39C9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event bus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673AE-C899-42FB-99CD-72FC7DDA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5" name="architecture-5">
            <a:extLst xmlns:a="http://schemas.openxmlformats.org/drawingml/2006/main">
              <a:ext uri="{FF2B5EF4-FFF2-40B4-BE49-F238E27FC236}">
                <a16:creationId xmlns:a16="http://schemas.microsoft.com/office/drawing/2014/main" id="{8F93932D-7AE6-4B56-9679-7FD6C9E8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425026-B49A-4353-846E-02C7009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ChirpStack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EC04F-D233-40A2-B3DE-3CE4F001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OTAA + decode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5F18C-6C0C-4BC7-A22A-F0F39228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9" name="architecture-6">
            <a:extLst xmlns:a="http://schemas.openxmlformats.org/drawingml/2006/main">
              <a:ext uri="{FF2B5EF4-FFF2-40B4-BE49-F238E27FC236}">
                <a16:creationId xmlns:a16="http://schemas.microsoft.com/office/drawing/2014/main" id="{9C3CAABA-2693-4306-B6C2-09404C5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527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6028C4-BB2E-47BC-B4A2-BE0F1A80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Apps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88FAB3-4E1B-4314-A424-092215C9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81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SQL + dashboards + flows</a:t>
            </a:r>
          </a:p>
        </p:txBody>
      </p:sp>
      <p:sp>
        <p:nvSpPr>
          <p:cNvPr id="32" name="architecture-callout">
            <a:extLst xmlns:a="http://schemas.openxmlformats.org/drawingml/2006/main">
              <a:ext uri="{FF2B5EF4-FFF2-40B4-BE49-F238E27FC236}">
                <a16:creationId xmlns:a16="http://schemas.microsoft.com/office/drawing/2014/main" id="{6BC8506D-A1B5-445A-B6DD-127681CC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1125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830E22-44F6-4295-B4A5-7E0B4846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3C5FD"/>
                </a:solidFill>
              </a:defRPr>
            </a:pPr>
            <a:r>
              <a:rPr sz="1050" b="1">
                <a:solidFill>
                  <a:srgbClr val="93C5FD"/>
                </a:solidFill>
              </a:rPr>
              <a:t>WHY THIS MATTERS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A97F3-3802-48BC-BD65-E043D2CE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Tracing one real uplink made each protocol and service boundary easier to reason about.</a:t>
            </a:r>
          </a:p>
        </p:txBody>
      </p:sp>
    </p:spTree>
    <p:extLst>
      <p:ext uri="{BB962C8B-B14F-4D97-AF65-F5344CB8AC3E}">
        <p14:creationId xmlns:p14="http://schemas.microsoft.com/office/powerpoint/2010/main" val="2243102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5A0A9C2-42DD-44A4-8F81-D9D7BDFD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D64D91F-FCD5-47F4-AD3F-4DB0A6B0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A142F2-D788-44D3-BA8B-92109578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The experiment made the LoRa and LoRaWAN boundary concrete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349F05-78DF-4931-AD86-6CA33C0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04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F0CEC8B-9565-4BE8-A93F-883B6E6E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EAFE9-E3B7-43CC-808C-E748A06E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5B47F-5281-4FAA-A0A1-9DE70A24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33278-BA7E-4E9C-A727-BE955F7E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UG65 receives LoRa radio traffic; LoRaWAN adds regional parameters, OTAA, Class A behavior, and device security.</a:t>
            </a:r>
          </a:p>
        </p:txBody>
      </p:sp>
      <p:sp>
        <p:nvSpPr>
          <p:cNvPr id="9" name="lora-layer">
            <a:extLst xmlns:a="http://schemas.openxmlformats.org/drawingml/2006/main">
              <a:ext uri="{FF2B5EF4-FFF2-40B4-BE49-F238E27FC236}">
                <a16:creationId xmlns:a16="http://schemas.microsoft.com/office/drawing/2014/main" id="{46C440FB-D01A-4C35-92EA-AD1A5FC4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2197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94A9F-860B-467B-980E-B2832CAE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LoRa = physical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D5D53-F7EE-45C2-886C-B196BEC5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EA80D-1C9A-497D-AAA6-6E68BF9B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Chirp Spread Spectrum radio carries low-power long-range links.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3E9B4-E10C-41E4-A66B-9FA6958A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C56C6-DFAE-4D58-B727-F3073EE9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Spreading factor, bandwidth, coding rate, and frequency affect the link budget.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AA5BE-8689-434D-A04B-6394B73D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D0CB8-B043-4B3D-A9FB-EE3F3FE4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UG65 receives RF and forwards packets; it does not decide application meaning.</a:t>
            </a:r>
          </a:p>
        </p:txBody>
      </p:sp>
      <p:sp>
        <p:nvSpPr>
          <p:cNvPr id="17" name="lorawan-layer">
            <a:extLst xmlns:a="http://schemas.openxmlformats.org/drawingml/2006/main">
              <a:ext uri="{FF2B5EF4-FFF2-40B4-BE49-F238E27FC236}">
                <a16:creationId xmlns:a16="http://schemas.microsoft.com/office/drawing/2014/main" id="{BA843576-19C7-417B-A81C-F02CB83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52197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FD5DA-337B-4445-80AF-C61EB803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670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LoRaWAN = network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1063D-779A-48DA-889A-C5091243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8F10C-2E7C-4A64-9A09-5AA92E10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LoRaWAN defines activation, frame counters, classes, and regional parameters.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3E092-F6DE-433F-A3E2-0481DFC7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A7C8C-49AD-42D9-9D3C-D7C66EBF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OTAA establishes session state; keys and identifiers must match the server profile.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93EC6-9243-4AD2-B3DC-66AC924A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76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DEF60-2A78-4F4D-928D-2C343B8C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Dragino is Class A; downlinks wait for its receive window after an uplink.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D8B48-B6A8-4AAE-AF60-0EEFD15B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Experiment takeaway: radio reception is not the same as an accepted, decoded, actionable uplink.</a:t>
            </a:r>
          </a:p>
        </p:txBody>
      </p:sp>
    </p:spTree>
    <p:extLst>
      <p:ext uri="{BB962C8B-B14F-4D97-AF65-F5344CB8AC3E}">
        <p14:creationId xmlns:p14="http://schemas.microsoft.com/office/powerpoint/2010/main" val="859478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4C092C2-2729-4627-B253-58739F68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C0E52DE-0D01-43ED-9247-820D1A8C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98E1A6-27EC-453A-95E2-DDFCBA5E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ChirpStack made the Dragino uplink actionable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21B82E-4E0A-46CA-9268-9EF571BA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05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8F0B8D8-7237-4A58-9E9A-E9A6CB1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B46C5-340B-4091-9B73-E33FE86B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41A48-B258-4AE9-BDA6-AE03124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43a45fbcf4663"/>
          <a:stretch xmlns:a="http://schemas.openxmlformats.org/drawingml/2006/main"/>
        </p:blipFill>
        <p:spPr>
          <a:xfrm xmlns:a="http://schemas.openxmlformats.org/drawingml/2006/main">
            <a:off x="819150" y="18097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95824-9F54-4B79-9441-1F91A44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478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hands-on path connected the UG65 through Gateway Bridge to ChirpStack v4, then used the device profile and codec to expose telemetry.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9FA2F-F200-4113-B2A4-ED4C399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6F82B-F4CD-475B-B7F0-CEA195E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1. Ingest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9D5FE-E7DB-489A-9D47-09DEB9DC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4DABD-6AB0-48B3-8AF2-103B8EA1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Receives packets forwarded by the Milesight UG65.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CAD91-DDF4-4C70-BADC-FAE22E12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50BAF-BD64-4053-9044-D701B093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Associates frames with the gateway and Dragino device.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851A8-A12B-471F-8035-0D25E8E4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81F45-5C60-458F-96D1-034EE4C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Tracks radio metadata such as RSSI and SNR.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B04A9-BAF8-4BFA-9C8C-F2BA43B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A24EA-2AC0-4EF4-993C-3BE00765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67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2. 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C1D1A-79FD-47B5-BC7D-B8D19260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E9172-AC9F-4F16-985F-F179083B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0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Checks region, device profile, and OTAA state.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2AEC6-6E02-45B4-8D58-CE83CF25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97254-46CD-4A31-B785-9B2F9A4A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005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Verifies security state and frame-counter behavior.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F5BC3E-BC50-4596-A3A5-7807B100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66286-EAF9-447E-9E4D-84AA5B9E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005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Applies Class A downlink timing rules.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E2C13-DE4B-44D4-A3B9-E2F342C4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94668-8711-4400-94A5-DAEB66E7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3. Decode + publish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C6C27E-C08C-47EF-93FF-9B697567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DA5909-3429-4E72-8F34-EEE75512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Runs the Dragino JavaScript payload codec.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5F3E1F-EFA0-482C-BB55-36A9E965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C0B0C-C25D-449A-827B-E681C88F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Exposes temperature, humidity, and battery fields.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175166-314B-4B02-BD4A-F0E00B8D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3B1633-6010-4421-993D-205AA8D7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Publishes decoded events for SQL, dashboards, and flows.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A06164-94BB-4B98-86E8-CC68DDE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Experiment takeaway: one real uplink is more useful when every server-side handoff is traceable.</a:t>
            </a:r>
          </a:p>
        </p:txBody>
      </p:sp>
    </p:spTree>
    <p:extLst>
      <p:ext uri="{BB962C8B-B14F-4D97-AF65-F5344CB8AC3E}">
        <p14:creationId xmlns:p14="http://schemas.microsoft.com/office/powerpoint/2010/main" val="1920817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5A64CC8-74E4-4114-B161-C895543F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EA3B7F9-6E3D-400E-8F0C-66C12075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D4FFD7-28E7-4C96-A8DB-ADE9020D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Direct AP mode gave the UG65 experiment a controlled network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6B76EA-3D03-412D-A3AB-A7D18D63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06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133A64C-DD29-4FA2-A0CB-26C2D484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AF80C-EF51-44A1-8550-81E54D45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A96F7-A8F8-4274-BF6B-04249833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94427-A351-4C97-9BEC-456E9B13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UG65 exposed its Gateway_F94C0B Wi-Fi AP; the VM used a static address so the local packet path stayed deterministic.</a:t>
            </a:r>
          </a:p>
        </p:txBody>
      </p:sp>
      <p:sp>
        <p:nvSpPr>
          <p:cNvPr id="9" name="infra-1">
            <a:extLst xmlns:a="http://schemas.openxmlformats.org/drawingml/2006/main">
              <a:ext uri="{FF2B5EF4-FFF2-40B4-BE49-F238E27FC236}">
                <a16:creationId xmlns:a16="http://schemas.microsoft.com/office/drawing/2014/main" id="{F4F3D1BC-5492-4BEF-A74F-1C757E10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0FBA6-C230-4740-8A4C-AE45DFA0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Ubuntu VM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5133B-FFD6-4C58-821D-A096CBF1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9D9FC-67DD-47CF-A0F1-876AD71E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VirtualBox bridged the VM to the host Wi-Fi adapter.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1E139-0315-47CF-8EF4-58AD40DC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4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8C118-9B9A-479C-B788-EDD62A44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449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Netplan managed static/DHCP transitions.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B275B-AD77-434C-8013-95E3015D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F8847-8B72-4903-8E4A-C3ED22B4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9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VM address: 192.168.23.137/24.</a:t>
            </a:r>
          </a:p>
        </p:txBody>
      </p:sp>
      <p:sp>
        <p:nvSpPr>
          <p:cNvPr id="17" name="infra-2">
            <a:extLst xmlns:a="http://schemas.openxmlformats.org/drawingml/2006/main">
              <a:ext uri="{FF2B5EF4-FFF2-40B4-BE49-F238E27FC236}">
                <a16:creationId xmlns:a16="http://schemas.microsoft.com/office/drawing/2014/main" id="{55D87D16-B3BE-494D-BC50-83921473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85CF7-27D2-43D3-B4AA-038FE074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Docker Compose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490F2-C1EE-4CF9-9DD5-FAE7F1E2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0C6C9-B554-42CB-B2D2-00F4C7C7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0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Runs ChirpStack, Gateway Bridge, MQTT, PostgreSQL, and Redis.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DF633-477B-440E-8564-3CD2653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44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85BF6-208F-46F8-80B9-B57CD2A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49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Volumes preserve state across restarts.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E5234-072E-42C4-A327-E2D45D20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8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7FA6C0-6B5E-4E62-A179-71543A9C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89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Pre-stage images for offline use.</a:t>
            </a:r>
          </a:p>
        </p:txBody>
      </p:sp>
      <p:sp>
        <p:nvSpPr>
          <p:cNvPr id="25" name="infra-3">
            <a:extLst xmlns:a="http://schemas.openxmlformats.org/drawingml/2006/main">
              <a:ext uri="{FF2B5EF4-FFF2-40B4-BE49-F238E27FC236}">
                <a16:creationId xmlns:a16="http://schemas.microsoft.com/office/drawing/2014/main" id="{E1FB1C8E-E7F8-414F-9878-99FC320E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12274-9F89-4C14-B253-C3768D10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Operational network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498A7B-5BA5-4025-9E5B-9D9ADB5F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1472C2-7369-4063-96E7-E532A999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Gateway address: 192.168.23.150.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9ACC20-6A5C-4057-8AA0-B4EDB71D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44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84A0B9-F4EC-484D-BE27-3A61EB14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449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Semtech forwarding uses UDP 1700.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ED3E50-0EF1-401E-AC58-A16CCCDA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8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D8E321-9F9F-48C8-831B-E2651828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89450"/>
            <a:ext cx="2667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packet-forwarder settings must be re-applied after a gateway reboot.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252466-6799-443C-A086-EC878417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97720C-EFD4-4D8D-AA80-04CD8DEC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Current-week experiment: the Dragino data reached the local server without relying on cloud connectivity.</a:t>
            </a:r>
          </a:p>
        </p:txBody>
      </p:sp>
    </p:spTree>
    <p:extLst>
      <p:ext uri="{BB962C8B-B14F-4D97-AF65-F5344CB8AC3E}">
        <p14:creationId xmlns:p14="http://schemas.microsoft.com/office/powerpoint/2010/main" val="1784731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074A7EB-1D06-4543-8687-9CD27ED2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6D15F7B-5795-4534-90BE-2BA136AF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8A8814-6126-4CA4-9EED-EED4A90D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PostgreSQL preserved the Dragino experiment as queryable events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04D318-FB34-49DD-A456-E7E56E00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07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4901E50-B7D7-41B6-ABB6-27F2E305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88458-B83F-4CD3-964C-57344C2D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C061A-BAC6-439B-9B60-DD8E4936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2e410462a4186"/>
          <a:stretch xmlns:a="http://schemas.openxmlformats.org/drawingml/2006/main"/>
        </p:blipFill>
        <p:spPr>
          <a:xfrm xmlns:a="http://schemas.openxmlformats.org/drawingml/2006/main">
            <a:off x="828054" y="1809750"/>
            <a:ext cx="591791" cy="60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2F695-881F-456E-BD64-67017299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478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integration database turned live uplinks into durable records that I could inspect, query, and reuse in downstream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50907-EECA-4BA7-8FEC-E9772DEE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E040B-A369-4B8D-87F1-100E7110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Data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CCF61-5FF5-49D8-8F05-0142B46A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14CE5-4E80-4365-854D-EAD37121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Dedicated chirpstack_integration database for event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EA081-D25B-41BC-AB17-0F967C0F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2DF6A-87FD-4DC8-9650-2FE92DC2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JSONB stores decoded payloads without forcing one rigid sensor schema.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96E84-0A3E-4D55-AFB4-BA234D50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25BB8-0847-40C1-8B29-50C5E9B3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SQL views expose stable fields for dashboards and reports.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46E47-710F-49EE-9156-BA6D2F45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8FC85-5027-42BC-A576-AAF1C2FB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67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What becomes measurable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DD969-8BCA-4EC9-A5DD-E3D463C8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132FD-7F93-41A5-B818-4C069929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Dragino values: TempC_SHT31, Hum_SHT31, and BatV.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021BC-1BA9-4275-81E1-D9158DEB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5C0B0-3730-413F-A5B1-BA140B32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195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Radio quality: RSSI, SNR, timing, and gateway metadata.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F4808-C7C9-47C9-82DC-9BE072C8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38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80F20-2EED-4C78-9378-F4421720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Operational evidence: joins, acknowledgements, and status events.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29739-16FB-4F85-B8C8-B356B87F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Experiment takeaway: persistence converts a live uplink into evidence I can compare and reuse.</a:t>
            </a:r>
          </a:p>
        </p:txBody>
      </p:sp>
    </p:spTree>
    <p:extLst>
      <p:ext uri="{BB962C8B-B14F-4D97-AF65-F5344CB8AC3E}">
        <p14:creationId xmlns:p14="http://schemas.microsoft.com/office/powerpoint/2010/main" val="1427560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9D870E3-E3FB-4283-B113-5308F483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9B00FC9-866A-4F02-B4F6-6A0C1705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1F764E-BD69-490F-8F2F-0D5E1FA2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Grafana made Dragino behavior visible beyond one packet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D70DC1-BDB5-47CD-B990-A1311656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08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8596DAB-23E2-47F0-8CE4-378D9CD2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81EE7-7190-4753-AFAA-8876A09E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616DF-8BF5-4858-AEC4-CDC31FC2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10d7dc8d74bce"/>
          <a:stretch xmlns:a="http://schemas.openxmlformats.org/drawingml/2006/main"/>
        </p:blipFill>
        <p:spPr>
          <a:xfrm xmlns:a="http://schemas.openxmlformats.org/drawingml/2006/main">
            <a:off x="819150" y="18097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BC587-829A-421B-954D-9DF75C5D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478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Using PostgreSQL data, I explored gauges and time-series views for the Dragino telemetry.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5E554-9DD2-457A-AA70-1CA3E224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D7610-AAB3-4F9C-8B68-4B5174BE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Current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BF7EA-4DEC-4D79-9EEA-76311273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6AD25-3C82-420F-9E5F-F9255FC0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Gauges show latest decoded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603D3-030D-402B-BA66-309071F5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533E6-8891-44C1-BE3E-579AA3D9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Color thresholds make risk visible quickly.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B3CA2-CF91-49E6-BC88-67E27A59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AB575-B6D9-4C14-B678-E062D2E4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dashboard can compare multiple sensor zones later.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0ED40-23D8-4CEA-876B-F45A0472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36556-2D74-4F77-8299-62DD3CA0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Time series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18E14-3A89-452E-95CD-13FAA2A6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E1563-D2BC-4A89-A000-AD484D24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0450"/>
            <a:ext cx="26289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SQL queries reveal trends rather than isolated readings.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A551A-059A-4D78-BC53-F81BF73D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44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B7B91-9AA3-432F-A85D-DDEE9CE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4950"/>
            <a:ext cx="26289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$__timeFilter macro keeps panels aligned to the selected range.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F2B6C-4876-4C1D-AEF2-E27810D9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89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0589CA-04FE-4696-880F-B8D187B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89450"/>
            <a:ext cx="26289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Variables can scale one dashboard across sensors.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4BE984-5AA4-441B-938A-09BABFC6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CD948B-1619-4E3A-8486-44315FD0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Operational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E5687-170F-40C0-828A-90681E7B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C81BC8-8EE8-4039-BD38-A49FEE67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Operators can compare zones and time windows.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ADF64C-7223-46E1-8017-67C2AD80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A0C6BC-321A-4DC4-8C32-9B0C7B84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Alerts can point to a condition before manual inspection.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65E32F-DF5B-4621-A470-D5472F80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A78B4C-EE12-4BF9-A50C-55E58CF6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Dashboard JSON export makes the view portable.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20E9A7-D86F-4C6C-B3EB-772B86EA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Experiment takeaway: a dashboard is an interface to telemetry evidence, not the evidence itself.</a:t>
            </a:r>
          </a:p>
        </p:txBody>
      </p:sp>
    </p:spTree>
    <p:extLst>
      <p:ext uri="{BB962C8B-B14F-4D97-AF65-F5344CB8AC3E}">
        <p14:creationId xmlns:p14="http://schemas.microsoft.com/office/powerpoint/2010/main" val="18427409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accent-rule">
            <a:extLst xmlns:a="http://schemas.openxmlformats.org/drawingml/2006/main">
              <a:ext uri="{FF2B5EF4-FFF2-40B4-BE49-F238E27FC236}">
                <a16:creationId xmlns:a16="http://schemas.microsoft.com/office/drawing/2014/main" id="{7B963BB7-8F47-45BE-8076-C8140529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CF85410-0609-47CD-B914-6312B19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D10D46-4FDC-42E9-9D65-4043A944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Node-RED connected Dragino events to rules and actions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1C44D5-3963-4821-8DD2-6A845DC8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09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37B31B9-136B-4216-AF56-FDE436A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82A47-BAF6-4C53-9A70-C67E26F4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F9D7B-7E3F-4B9F-BABD-0D865A79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dda99c32348e5"/>
          <a:stretch xmlns:a="http://schemas.openxmlformats.org/drawingml/2006/main"/>
        </p:blipFill>
        <p:spPr>
          <a:xfrm xmlns:a="http://schemas.openxmlformats.org/drawingml/2006/main">
            <a:off x="819150" y="18097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2430A-C855-45A0-A721-4EDAC578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478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I explored the MQTT-driven flow: receive the uplink, inspect decoded fields, apply a rule, then prepare an alert or downlink.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7290A-AE41-4A25-B88F-CF787EB8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33F66-FCD3-4239-A8D4-3C88EDA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Subscribe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04C50-124B-4A20-87DD-01431246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MQTT wildcard topics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receive uplinks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FA4C5-EA47-4840-98BA-70C393E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05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778CF-51B8-40E3-B2D3-DDA544E2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6705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5A2BD-04B1-4787-9185-D54E06D1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337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Transform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AE2A5-54F5-4370-BC77-B272F5A2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528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Function nodes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normalize payloads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AD436-E94D-4322-8F9C-C841C3DA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05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D4F51-9C4E-43FB-994A-06AC3E38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2FC11-AF77-416C-AB9E-6E488FA9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6B5FC-4985-4ED6-846D-EE184F18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Switch / threshold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53562-E77F-4FC6-9ACF-08A6D0E3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5DE63-C843-4D3C-A0AF-1B3878EB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6705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229BB-5034-42A8-B892-18BB29A3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5A4EF-B319-45C6-8A4B-E1779ACC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528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Webhook, alert,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or downlink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C80A0-2123-44AE-B565-6FAEB4DF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11125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94E8D-4F88-4FF0-8EDE-14EBDB2C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Control 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7603E-289B-4E2E-9C64-37E377F9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For current experiments, keep actuation human-reviewed; Class A downlinks wait for the device's receive window.</a:t>
            </a:r>
          </a:p>
        </p:txBody>
      </p:sp>
    </p:spTree>
    <p:extLst>
      <p:ext uri="{BB962C8B-B14F-4D97-AF65-F5344CB8AC3E}">
        <p14:creationId xmlns:p14="http://schemas.microsoft.com/office/powerpoint/2010/main" val="71150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301B9AE-E808-4AC7-A1CE-B058F72C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50F09B6-A5CC-496F-805E-F1867562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A81247-01A6-4D48-940B-1859800D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RF and LoRa signal analysis is a future extension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65E791-CDC1-4A48-810C-E4FB3050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10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180180F-8DE4-4133-B4A4-296A9330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71A08-874C-4429-BB02-58428EF4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9A8A7-36C7-4994-8219-1E6FCD0B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5C04C-8217-4C6C-B173-A30E06A2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76C5A-16F4-492B-A299-8589407E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FUTURE WORK / NOT IMPLEMENTED YET / AUTHORIZED PRIVATE LAB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25EF7-A1B3-4B55-BC5F-93669328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The RF documents define a future analyzer path to observe over-the-air behavior and correlate it with the local ChirpStack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97504-3F74-41CF-ABBA-BF8C49A5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4953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BE286-3EDD-4E4D-89E4-2AC9F984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RF / IQ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7D26E-C0E4-4AD9-B2BD-243CF536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432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gr-lora_sdr or SDRangel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635E6-774F-4237-93CE-6C4A729E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23A97-582B-4C20-85DA-0EDED203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4953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2D5DE-3B04-4EB0-9903-447FAC4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PHY payload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F7A9B-B448-4433-B3DC-3D1CF2FC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719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demodulated LoRa bytes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1C9B2-203B-45D4-AC9E-3BB34B4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43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DBD06-4A8C-42E5-AE84-9EB975C1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4953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13688-004F-45DD-AAF0-78BFC1EC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LoRaWAN fields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2CAE9A-2DF2-447E-9E2C-55EDE2BD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005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LoRa_Craft / Scapy adapter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015FE-4529-409D-983E-F5757768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71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2B677-2D19-47D8-A609-E080FE20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62475"/>
            <a:ext cx="4953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C8AB4-5E20-460C-8091-8552BBC0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53D9C-77B7-4C67-884D-7DB42252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Wireshark + captures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8195B-85A1-4024-883D-6A96B1A8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00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D46902-4360-4478-971B-9380E646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4953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5A51E-C915-4B1F-B24F-AC9C10E6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Server 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E8A8CC-F02A-4334-9266-B024289B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57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ChirpStack + LAF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75B4E-9611-44EC-B0C9-B15DF7C8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991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BC010-C3F8-4DA4-9942-EDE9E76B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SAFE START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7DBBEB-E8A8-4C41-859F-A890E8E5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43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A5FA"/>
                </a:solidFill>
              </a:defRPr>
            </a:pPr>
            <a:r>
              <a:rPr sz="1425" b="1">
                <a:solidFill>
                  <a:srgbClr val="60A5FA"/>
                </a:solidFill>
              </a:rPr>
              <a:t>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EBC669-C048-4444-BA59-DD817230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Receive-only hardware first.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55FD0F-5C11-4589-8AE1-36D01E09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A5FA"/>
                </a:solidFill>
              </a:defRPr>
            </a:pPr>
            <a:r>
              <a:rPr sz="1425" b="1">
                <a:solidFill>
                  <a:srgbClr val="60A5FA"/>
                </a:solidFill>
              </a:rPr>
              <a:t>-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CDC16A-9FF7-4CFE-A4FD-762BB4C2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100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Synthetic identifiers and private tenant.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91080B-B094-4483-AD27-7DB1E257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A5FA"/>
                </a:solidFill>
              </a:defRPr>
            </a:pPr>
            <a:r>
              <a:rPr sz="1425" b="1">
                <a:solidFill>
                  <a:srgbClr val="60A5FA"/>
                </a:solidFill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E7A617-6400-4EAC-A6EA-56708977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767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Preserve IQ, PCAP, logs, and hashes.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C32974-2A53-448B-B70A-F6D59FB9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A5FA"/>
                </a:solidFill>
              </a:defRPr>
            </a:pPr>
            <a:r>
              <a:rPr sz="1425" b="1">
                <a:solidFill>
                  <a:srgbClr val="60A5FA"/>
                </a:solidFill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B90C50-6C99-4874-A229-388ACF2B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Any TX requires shielded/cabled path and approval.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BC9703-8BB6-4F29-9F74-A829A3C0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This is documented future work, not a completed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7447242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C6408DC-42D9-44E3-96C3-54C4842C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A959BE3-F274-4ED0-85CD-B7852B75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FDFC28-62CB-44EB-AC71-9B879D51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The Raspberry Pi 4 gateway is a prototype assembly task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D883B3-16EF-4B2B-952E-57FC5ABC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11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BBB83BC-1E3D-40DF-AF09-BF38107F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7B012-B0D2-4B09-97BA-DAA13360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448B4-E397-481D-9870-69CFFAE6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A0403-0CCD-432F-9136-A778527F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70499-1AD6-4BE8-B48D-B46294D7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FUTURE PROTOTYPE / ASSEMBLY AND EXPERIMENTATION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548AD-2CFF-47F6-A240-D4D61B1C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The next hardware path is a planned custom gateway for private-network experiments. My next responsibility is to assemble it, test the interfaces, and play with the prototype.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b2e2b23a446d7"/>
          <a:stretch xmlns:a="http://schemas.openxmlformats.org/drawingml/2006/main"/>
        </p:blipFill>
        <p:spPr>
          <a:xfrm xmlns:a="http://schemas.openxmlformats.org/drawingml/2006/main">
            <a:off x="533400" y="3278981"/>
            <a:ext cx="1143000" cy="64293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C6148-37A5-401B-8426-1E6B860B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62300"/>
            <a:ext cx="2876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34989-D2A9-4368-BA14-7F422F41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909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Raspberry Pi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7DBA8-0F07-4B4D-BEFE-37920225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2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gateway computer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35914-C7C2-4A13-8B7F-0256287C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29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B4DA2-F9EF-4485-AE75-735EC7E5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62300"/>
            <a:ext cx="2876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52200-291A-4DA3-9BBA-7F2DE166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909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RAK5146 SPI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37E87-8E32-4227-A861-5BCA30FB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52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AS923 900-928 MHz concentrator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91E20-090A-4BD0-9313-F6F69355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DF676-90EE-420E-9BC4-DD0FF8AE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2133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C22DF-34F3-409B-960E-66F6BA74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Private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ChirpStack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9D1964-D1E7-4C88-930C-AB29D610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CB85F-BCF0-4688-8E9B-97B2425D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Assembly focus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BB9B3-C149-4399-84B5-A2FDEB7C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339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Mount the concentrator on the Pi HAT, connect both antenna paths, use wired Ethernet first, and prove one clean packet path before adding outdoor or solar complexity.</a:t>
            </a:r>
          </a:p>
        </p:txBody>
      </p:sp>
    </p:spTree>
    <p:extLst>
      <p:ext uri="{BB962C8B-B14F-4D97-AF65-F5344CB8AC3E}">
        <p14:creationId xmlns:p14="http://schemas.microsoft.com/office/powerpoint/2010/main" val="346382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728B482-8762-47F4-AA6E-9A67AA73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4CDEB1E-281F-4380-B795-04368AF4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D6B0C3-62BF-4B3B-B0A1-39EE4206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The WisBlock node is the small field experiment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6ADF65-90E2-4C8F-B9D6-DA91A9F6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12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7300EC2-08A7-415B-ADFA-7489D1B1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92777-2B28-4D05-90DF-29CAA5A1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2CC23-7F38-404A-9708-803A0C3C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9E1BC-2008-44A0-980F-60AD4AD1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C75D8-3401-4318-AE65-32D6942A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FUTURE PROTOTYPE / ASSEMBLY AND SENSOR 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25167-7B53-4325-82DE-1A50B94E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Start with one node and one sensor. The purpose is to learn the payload path, power behavior, and physical assembly before scaling the field design.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A4E98-0962-4ECB-B901-4EFAE34A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0D537-48EA-4DE4-8E78-25F8652D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RAK4631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F3029-515E-447D-A23B-AC5AF320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MCU + LoRa radio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4332B-36D2-461A-82DA-3FC14BC4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6B60A-60A1-425D-8ECC-3F06129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0040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9A8DC-7DF2-463A-AC9A-27324E43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671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RAK19007 / 19001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F5730-95CA-4CC7-B025-E6B570B5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WisBlock base 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215D6-7616-41AD-9317-B888B3F6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62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81022-21BF-4089-985A-5B07B6AC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86F45-EA82-4877-8380-BB0F3BF5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One sensor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B8089-8E4A-4B29-B1EF-18583164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soil, weather, or RS485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345DD-64C3-489E-BF6E-78014D04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BE644-D276-4EEB-A974-CC7E3578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AC731-0D0C-4434-A0EC-F7BA74BB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B45309"/>
                </a:solidFill>
              </a:defRPr>
            </a:pPr>
            <a:r>
              <a:rPr sz="1575" b="1">
                <a:solidFill>
                  <a:srgbClr val="B45309"/>
                </a:solidFill>
              </a:rPr>
              <a:t>Power later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422D8-2624-4DB3-9736-D7699446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battery / solar after bench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D59F3-F631-4CCA-9876-9A5DD0B7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11125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4BE0E-1340-4BFE-A34E-FC13351A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First experiment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D156D6-8A4E-4E5B-887A-12273624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86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Read one sensor, send one synthetic OTAA uplink, record the raw payload, and only then add the RAK-specific decoder and downstream integrations.</a:t>
            </a:r>
          </a:p>
        </p:txBody>
      </p:sp>
    </p:spTree>
    <p:extLst>
      <p:ext uri="{BB962C8B-B14F-4D97-AF65-F5344CB8AC3E}">
        <p14:creationId xmlns:p14="http://schemas.microsoft.com/office/powerpoint/2010/main" val="14167130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1C17977-F02B-4C6C-BA2F-3EA68339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D8205C1-3CCD-4559-AE1F-AA271919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322F12-8B70-4F26-B43B-37932FE2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Hyperledger Fabric can add a verifiable audit layer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7E8E8EA-7B03-462E-8F65-988917AA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13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F5F1DF3-4D70-44DD-AA63-31B14D56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9B168-1A76-45E0-82A9-A6171C2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CE7B6-25CF-4159-A70A-A9A5BE51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A159C-7CDE-47D1-A590-08A505EF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787DC-C31D-40C8-87F9-C996B626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FUTURE EXPLORATION / NOT IMPLEMENTED YET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38dd2b9a7412c"/>
          <a:stretch xmlns:a="http://schemas.openxmlformats.org/drawingml/2006/main"/>
        </p:blipFill>
        <p:spPr>
          <a:xfrm xmlns:a="http://schemas.openxmlformats.org/drawingml/2006/main">
            <a:off x="857250" y="24384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0A612-1811-45F9-8D92-A29EECDC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146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idea is not to replace PostgreSQL. It is to use Node-RED to send selected events or hashes to Fabric when a shared, tamper-evident record is valuable.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34B78-3C9F-469C-A33E-ECF0DD11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4F74C-339F-44A4-914F-0C7050CD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Telemetry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52B11-5E21-464A-BE88-A3C1DE51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full detail in 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359EA-E93A-473C-A07F-51ADC8D6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00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92B1E-493B-4729-AE61-CAF84914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19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F704F-1D07-415C-A3E2-A590AE8A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Node-RED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80FD8-CEC4-4F00-BB0E-4604BDFA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291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select / validate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BF6F4-A5E1-4D75-A5FB-570748EB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00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7C64D-CBE4-4D96-850E-EACE0E9A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820BF-866C-45B8-AB48-EF4AB534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Fabric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D1F38-BAD3-4813-85F5-44775113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291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shared ledger entry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2E5A8-17F2-4CEF-9E1F-3A264E9E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00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E78CC-36A5-4D2E-AB25-C8B5DC4F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19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F0F385-447C-4CF3-89EF-1BD75D40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B45309"/>
                </a:solidFill>
              </a:defRPr>
            </a:pPr>
            <a:r>
              <a:rPr sz="1575" b="1">
                <a:solidFill>
                  <a:srgbClr val="B45309"/>
                </a:solidFill>
              </a:rPr>
              <a:t>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A7FFD5-5A82-49AA-80D6-2D9D6E54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291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traceable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91FCA-B11F-4B4C-B7AB-93DD6E50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381D5-5DF2-4E63-A747-AFDA471F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Design question for the prototype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04B95-4932-4500-ABF2-24D7231C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149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Which events need shared verification, and which belong only in the high-volume telemetry store?</a:t>
            </a:r>
          </a:p>
        </p:txBody>
      </p:sp>
    </p:spTree>
    <p:extLst>
      <p:ext uri="{BB962C8B-B14F-4D97-AF65-F5344CB8AC3E}">
        <p14:creationId xmlns:p14="http://schemas.microsoft.com/office/powerpoint/2010/main" val="1313360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BA6F867-F6F8-454A-8113-23F6BBBD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37EDC93-5A72-436C-8979-3FE98361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6B725E-D029-494D-B51E-351B3319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What the UG65 + Dragino experiment taught me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D7EC1DD-6962-4CFF-BB31-64AC6BB7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14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3A42035-BC21-4311-9DA1-9A75977D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C0010-D493-4AFA-9628-C8AA78D7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7BFE7-C895-44E5-BD1C-17514DA9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D82E3-C35F-4DE4-9A7B-C468047C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The biggest shift was seeing one real sensor move through the full stack: radio, gateway, server, decoder, storage, and automation.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4D644-64D8-4DC1-819E-21633C50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AE0DF-B881-4101-92A1-667A38A7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RF-to-application tracing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DC75A-A266-48A8-9BED-6596E1A1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717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One uplink is a chain of observable handoffs, not a single dashboard event.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A9496-1C3F-4C18-AC68-25137A4D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D515F-4C87-4FF3-B525-9A70F8BE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9A119-AAE4-41F2-80CB-152CF2A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Gateway vs network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FC6F0-2F2D-4CA4-8F59-6B930340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337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The UG65 forwards radio traffic; ChirpStack validates device state and decodes payloads.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5C31C-DCC5-4122-A528-6DA92CAE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1FD4D-A577-4F73-A42F-121CCBAC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ADA61-DD03-422E-A725-542A7113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Decoder-first debugging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4EFF4-4FBC-4868-9ADC-5C6D943D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957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Raw bytes, device profile, JSONB fields, and charts must agree before data is useful.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0C5DE-3117-4E99-9CC9-2BB8DD2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0DF7B-AADE-4878-962E-85E340D7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11EB3-2EEF-4D64-BF16-9F3CCB57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Operational repeatability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2F256-224D-4D79-A231-F03B6679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577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AP mode, static IP, ports, logs, and downlink timing all shape the experiment.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78F6A-63BB-47B9-A143-1E6D0D8B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FFBEFA-2B4E-4D6D-AE3E-3A2EE0BC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1252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31A09-F49B-423E-9341-ECF6D20B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74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Next confidence gain: repeat the same trace with a second controlled sensor scenario.</a:t>
            </a:r>
          </a:p>
        </p:txBody>
      </p:sp>
    </p:spTree>
    <p:extLst>
      <p:ext uri="{BB962C8B-B14F-4D97-AF65-F5344CB8AC3E}">
        <p14:creationId xmlns:p14="http://schemas.microsoft.com/office/powerpoint/2010/main" val="19686702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0075B68-42A1-4122-9FC3-00BC8188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87F5EA8-1780-419C-8826-3B455C9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WEEKLY STANDUP / INTERN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04FF0D-97F3-42DC-9052-8CE76C32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Future plan: pass the hardware gate, then assemble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29DC46D-72A1-4526-861B-E4F96A02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15 / 15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B593FC-ED36-4CBF-9610-BC6CD0F8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31C1E-1D44-4728-BD18-CBEDACFA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lorawan-setup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11B83-A1D4-4A1A-905A-05A67C8B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532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Weekly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F6422-3207-4661-AE54-AF673AC3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Next phase is physical assembly and experimentation; this checklist is the last control before power-on.</a:t>
            </a:r>
          </a:p>
        </p:txBody>
      </p:sp>
      <p:sp>
        <p:nvSpPr>
          <p:cNvPr id="9" name="checklist-1">
            <a:extLst xmlns:a="http://schemas.openxmlformats.org/drawingml/2006/main">
              <a:ext uri="{FF2B5EF4-FFF2-40B4-BE49-F238E27FC236}">
                <a16:creationId xmlns:a16="http://schemas.microsoft.com/office/drawing/2014/main" id="{203E7900-1756-468C-81F0-B5CFC73A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34290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B4BF7-4029-4C05-AE22-AE5131CC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F830A-9FD3-4F30-B46A-46730033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DEAC0-223A-4DD1-986F-A297126B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RAK5146 SPI / AS923 900-928 MHz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85BDF-0466-4C00-98BF-7757C2EF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010B3-602F-497A-A3A5-00F77E24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6712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Raspberry Pi 4 + compatible 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7BFAD-C397-40D8-B3C8-1084383D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1573D-59EB-4559-A3D7-39DB7558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LoRa antenna + active GPS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E7FB0-893F-438A-9F54-358FE104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0A93E-3EA3-42EF-B537-89424F3C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4817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Two pigtails, 5 V / 3 A, microSD, Ethernet</a:t>
            </a:r>
          </a:p>
        </p:txBody>
      </p:sp>
      <p:sp>
        <p:nvSpPr>
          <p:cNvPr id="19" name="checklist-2">
            <a:extLst xmlns:a="http://schemas.openxmlformats.org/drawingml/2006/main">
              <a:ext uri="{FF2B5EF4-FFF2-40B4-BE49-F238E27FC236}">
                <a16:creationId xmlns:a16="http://schemas.microsoft.com/office/drawing/2014/main" id="{DA4C85D2-39CD-49AE-9DC7-6DDF770F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34290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EC826-C6A7-46F8-B03A-58B780DA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WISBLOCK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D9120-DB01-48DF-9AE2-E472D81A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55685-B1C8-42F8-9188-F5E637D6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7660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RAK4631 core + RAK19007/19001 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F59E4-229E-4A6A-B500-341AB34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67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808B4-B54A-40DF-B338-707D0E4E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6712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Matching 900 MHz node antenna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D1DFF-8151-4CA8-B24E-51D14E79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57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79287-EBB9-4B93-A9B3-4526FFF8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USB-C cable + one compatible sensor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81E731-AA75-48C4-9BE3-F657D76F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48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A173F0-BF6D-408C-AA1A-13F0D2C5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4817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Battery/solar later; cellular None first</a:t>
            </a:r>
          </a:p>
        </p:txBody>
      </p:sp>
      <p:sp>
        <p:nvSpPr>
          <p:cNvPr id="29" name="checklist-3">
            <a:extLst xmlns:a="http://schemas.openxmlformats.org/drawingml/2006/main">
              <a:ext uri="{FF2B5EF4-FFF2-40B4-BE49-F238E27FC236}">
                <a16:creationId xmlns:a16="http://schemas.microsoft.com/office/drawing/2014/main" id="{C6349C0E-CE5C-4005-ADAA-42180418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9850"/>
            <a:ext cx="34290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C96D0-04A2-4487-B0F4-665B2029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SAFE 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B51196-14DF-4482-A76C-4732C949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2B06DF-9990-4161-B67C-15B4DD2C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7660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Verify labels and parts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5D94DE-BA16-4966-ABC4-6FADCE38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-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7E4133-3C4B-41B8-905C-E068468B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6712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Attach RF paths before power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21D6D0-4D3D-417E-90C9-D2B19061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-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79659F-0BE1-42F0-9305-C270FC33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57650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Use one gateway + one node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BE879B-FB07-4EF3-ADE7-9D7282EF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48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-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004BB2-E455-4B0C-8E4E-0E5F1B2A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48175"/>
            <a:ext cx="268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Capture first OTAA uplink, then integrate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4AE7C0-4A3E-4EED-A8F0-088E1933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537C62-BEB0-4FD3-A58B-E79B5A41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NEXT STEPS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17DAF8-1E6C-4D21-BAF0-F06ACF83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53100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Assemble the Pi gateway -&gt; assemble one WisBlock node -&gt; add the RAK decoder -&gt; connect PostgreSQL / Grafana / Node-RED -&gt; explore Fabric and RF analyzer paths.</a:t>
            </a:r>
          </a:p>
        </p:txBody>
      </p:sp>
    </p:spTree>
    <p:extLst>
      <p:ext uri="{BB962C8B-B14F-4D97-AF65-F5344CB8AC3E}">
        <p14:creationId xmlns:p14="http://schemas.microsoft.com/office/powerpoint/2010/main" val="870082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2026-08-02T11:25:20.9130000Z</dcterms:created>
  <dcterms:modified xsi:type="dcterms:W3CDTF">2026-08-02T11:25:20.9140000Z</dcterms:modified>
</coreProperties>
</file>